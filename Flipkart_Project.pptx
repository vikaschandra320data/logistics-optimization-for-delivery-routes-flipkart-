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59E98C-6CF7-4EEC-A157-CB8E9D61D0FF}" v="35" dt="2025-11-26T07:38:40.5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as Chandra" userId="d7dd30bfddba3699" providerId="LiveId" clId="{CAD8CB0C-124C-4BE1-8164-D0E8BB023F29}"/>
    <pc:docChg chg="undo custSel addSld delSld modSld">
      <pc:chgData name="Vikas Chandra" userId="d7dd30bfddba3699" providerId="LiveId" clId="{CAD8CB0C-124C-4BE1-8164-D0E8BB023F29}" dt="2025-11-26T07:38:40.588" v="82"/>
      <pc:docMkLst>
        <pc:docMk/>
      </pc:docMkLst>
      <pc:sldChg chg="addSp delSp modSp mod modTransition setBg modAnim">
        <pc:chgData name="Vikas Chandra" userId="d7dd30bfddba3699" providerId="LiveId" clId="{CAD8CB0C-124C-4BE1-8164-D0E8BB023F29}" dt="2025-11-26T07:38:40.588" v="82"/>
        <pc:sldMkLst>
          <pc:docMk/>
          <pc:sldMk cId="2146395443" sldId="256"/>
        </pc:sldMkLst>
        <pc:spChg chg="mod">
          <ac:chgData name="Vikas Chandra" userId="d7dd30bfddba3699" providerId="LiveId" clId="{CAD8CB0C-124C-4BE1-8164-D0E8BB023F29}" dt="2025-11-26T06:55:15.191" v="25"/>
          <ac:spMkLst>
            <pc:docMk/>
            <pc:sldMk cId="2146395443" sldId="256"/>
            <ac:spMk id="2" creationId="{31D67CCA-C2FE-1F8F-6BB8-E219F6FE7163}"/>
          </ac:spMkLst>
        </pc:spChg>
        <pc:spChg chg="mod">
          <ac:chgData name="Vikas Chandra" userId="d7dd30bfddba3699" providerId="LiveId" clId="{CAD8CB0C-124C-4BE1-8164-D0E8BB023F29}" dt="2025-11-26T06:55:15.549" v="31" actId="27636"/>
          <ac:spMkLst>
            <pc:docMk/>
            <pc:sldMk cId="2146395443" sldId="256"/>
            <ac:spMk id="3" creationId="{902DE3F4-191E-B4E0-0E38-844CF207FF53}"/>
          </ac:spMkLst>
        </pc:spChg>
        <pc:picChg chg="add mod">
          <ac:chgData name="Vikas Chandra" userId="d7dd30bfddba3699" providerId="LiveId" clId="{CAD8CB0C-124C-4BE1-8164-D0E8BB023F29}" dt="2025-11-26T06:49:09.924" v="1"/>
          <ac:picMkLst>
            <pc:docMk/>
            <pc:sldMk cId="2146395443" sldId="256"/>
            <ac:picMk id="9" creationId="{7228E6ED-55F4-2C3E-211C-C7BB645BF021}"/>
          </ac:picMkLst>
        </pc:picChg>
        <pc:picChg chg="add del mod">
          <ac:chgData name="Vikas Chandra" userId="d7dd30bfddba3699" providerId="LiveId" clId="{CAD8CB0C-124C-4BE1-8164-D0E8BB023F29}" dt="2025-11-26T07:11:52.166" v="41"/>
          <ac:picMkLst>
            <pc:docMk/>
            <pc:sldMk cId="2146395443" sldId="256"/>
            <ac:picMk id="14" creationId="{62D40C60-7453-0080-262B-42F3DC6E78AC}"/>
          </ac:picMkLst>
        </pc:picChg>
        <pc:picChg chg="add del mod ord">
          <ac:chgData name="Vikas Chandra" userId="d7dd30bfddba3699" providerId="LiveId" clId="{CAD8CB0C-124C-4BE1-8164-D0E8BB023F29}" dt="2025-11-26T07:20:24.441" v="42"/>
          <ac:picMkLst>
            <pc:docMk/>
            <pc:sldMk cId="2146395443" sldId="256"/>
            <ac:picMk id="15" creationId="{36A0B010-997F-4F43-2151-5BD701F42629}"/>
          </ac:picMkLst>
        </pc:picChg>
        <pc:picChg chg="add del mod">
          <ac:chgData name="Vikas Chandra" userId="d7dd30bfddba3699" providerId="LiveId" clId="{CAD8CB0C-124C-4BE1-8164-D0E8BB023F29}" dt="2025-11-26T07:38:40.588" v="82"/>
          <ac:picMkLst>
            <pc:docMk/>
            <pc:sldMk cId="2146395443" sldId="256"/>
            <ac:picMk id="16" creationId="{C12313F4-2ED2-A977-AA8D-F0A91F5E43D1}"/>
          </ac:picMkLst>
        </pc:picChg>
      </pc:sldChg>
      <pc:sldChg chg="addSp delSp modSp mod modTransition modAnim">
        <pc:chgData name="Vikas Chandra" userId="d7dd30bfddba3699" providerId="LiveId" clId="{CAD8CB0C-124C-4BE1-8164-D0E8BB023F29}" dt="2025-11-26T07:38:40.588" v="82"/>
        <pc:sldMkLst>
          <pc:docMk/>
          <pc:sldMk cId="2735931172" sldId="257"/>
        </pc:sldMkLst>
        <pc:spChg chg="mod">
          <ac:chgData name="Vikas Chandra" userId="d7dd30bfddba3699" providerId="LiveId" clId="{CAD8CB0C-124C-4BE1-8164-D0E8BB023F29}" dt="2025-11-26T06:55:15.191" v="25"/>
          <ac:spMkLst>
            <pc:docMk/>
            <pc:sldMk cId="2735931172" sldId="257"/>
            <ac:spMk id="2" creationId="{DE93D336-FFEB-2707-EA41-5BF22F433E96}"/>
          </ac:spMkLst>
        </pc:spChg>
        <pc:spChg chg="mod">
          <ac:chgData name="Vikas Chandra" userId="d7dd30bfddba3699" providerId="LiveId" clId="{CAD8CB0C-124C-4BE1-8164-D0E8BB023F29}" dt="2025-11-26T06:55:15.573" v="32" actId="27636"/>
          <ac:spMkLst>
            <pc:docMk/>
            <pc:sldMk cId="2735931172" sldId="257"/>
            <ac:spMk id="3" creationId="{F7C46F5F-1623-B2E9-2987-B9929A8CAB49}"/>
          </ac:spMkLst>
        </pc:spChg>
        <pc:picChg chg="add del mod">
          <ac:chgData name="Vikas Chandra" userId="d7dd30bfddba3699" providerId="LiveId" clId="{CAD8CB0C-124C-4BE1-8164-D0E8BB023F29}" dt="2025-11-26T07:11:52.166" v="41"/>
          <ac:picMkLst>
            <pc:docMk/>
            <pc:sldMk cId="2735931172" sldId="257"/>
            <ac:picMk id="11" creationId="{A75A6975-5D4C-6B0D-0AC3-C7D964D77D3F}"/>
          </ac:picMkLst>
        </pc:picChg>
        <pc:picChg chg="add del mod ord">
          <ac:chgData name="Vikas Chandra" userId="d7dd30bfddba3699" providerId="LiveId" clId="{CAD8CB0C-124C-4BE1-8164-D0E8BB023F29}" dt="2025-11-26T07:20:24.441" v="42"/>
          <ac:picMkLst>
            <pc:docMk/>
            <pc:sldMk cId="2735931172" sldId="257"/>
            <ac:picMk id="12" creationId="{436D5077-F1B9-DFDD-8016-33776AC11FC4}"/>
          </ac:picMkLst>
        </pc:picChg>
        <pc:picChg chg="add del mod">
          <ac:chgData name="Vikas Chandra" userId="d7dd30bfddba3699" providerId="LiveId" clId="{CAD8CB0C-124C-4BE1-8164-D0E8BB023F29}" dt="2025-11-26T07:38:40.588" v="82"/>
          <ac:picMkLst>
            <pc:docMk/>
            <pc:sldMk cId="2735931172" sldId="257"/>
            <ac:picMk id="13" creationId="{3B4445C0-C902-F192-12AD-9E9F978467A5}"/>
          </ac:picMkLst>
        </pc:picChg>
      </pc:sldChg>
      <pc:sldChg chg="addSp delSp modSp mod modTransition modAnim">
        <pc:chgData name="Vikas Chandra" userId="d7dd30bfddba3699" providerId="LiveId" clId="{CAD8CB0C-124C-4BE1-8164-D0E8BB023F29}" dt="2025-11-26T07:38:40.588" v="82"/>
        <pc:sldMkLst>
          <pc:docMk/>
          <pc:sldMk cId="4292506118" sldId="258"/>
        </pc:sldMkLst>
        <pc:picChg chg="add del mod">
          <ac:chgData name="Vikas Chandra" userId="d7dd30bfddba3699" providerId="LiveId" clId="{CAD8CB0C-124C-4BE1-8164-D0E8BB023F29}" dt="2025-11-26T07:11:52.166" v="41"/>
          <ac:picMkLst>
            <pc:docMk/>
            <pc:sldMk cId="4292506118" sldId="258"/>
            <ac:picMk id="7" creationId="{CC29321B-4E39-BB36-D2FF-7983879ADEEE}"/>
          </ac:picMkLst>
        </pc:picChg>
        <pc:picChg chg="add del mod ord">
          <ac:chgData name="Vikas Chandra" userId="d7dd30bfddba3699" providerId="LiveId" clId="{CAD8CB0C-124C-4BE1-8164-D0E8BB023F29}" dt="2025-11-26T07:20:24.441" v="42"/>
          <ac:picMkLst>
            <pc:docMk/>
            <pc:sldMk cId="4292506118" sldId="258"/>
            <ac:picMk id="8" creationId="{64AC04A5-C2F1-8109-8239-64FC1FE86771}"/>
          </ac:picMkLst>
        </pc:picChg>
        <pc:picChg chg="add del mod">
          <ac:chgData name="Vikas Chandra" userId="d7dd30bfddba3699" providerId="LiveId" clId="{CAD8CB0C-124C-4BE1-8164-D0E8BB023F29}" dt="2025-11-26T07:38:40.588" v="82"/>
          <ac:picMkLst>
            <pc:docMk/>
            <pc:sldMk cId="4292506118" sldId="258"/>
            <ac:picMk id="9" creationId="{F51C0A4C-08E8-7925-ACBA-5CACE9526B75}"/>
          </ac:picMkLst>
        </pc:picChg>
      </pc:sldChg>
      <pc:sldChg chg="addSp delSp modSp mod modTransition modAnim">
        <pc:chgData name="Vikas Chandra" userId="d7dd30bfddba3699" providerId="LiveId" clId="{CAD8CB0C-124C-4BE1-8164-D0E8BB023F29}" dt="2025-11-26T07:38:40.588" v="82"/>
        <pc:sldMkLst>
          <pc:docMk/>
          <pc:sldMk cId="1400103750" sldId="259"/>
        </pc:sldMkLst>
        <pc:picChg chg="add del mod">
          <ac:chgData name="Vikas Chandra" userId="d7dd30bfddba3699" providerId="LiveId" clId="{CAD8CB0C-124C-4BE1-8164-D0E8BB023F29}" dt="2025-11-26T07:11:52.166" v="41"/>
          <ac:picMkLst>
            <pc:docMk/>
            <pc:sldMk cId="1400103750" sldId="259"/>
            <ac:picMk id="7" creationId="{91B71500-5205-3895-1E44-F82A52CBAC6E}"/>
          </ac:picMkLst>
        </pc:picChg>
        <pc:picChg chg="add del mod ord">
          <ac:chgData name="Vikas Chandra" userId="d7dd30bfddba3699" providerId="LiveId" clId="{CAD8CB0C-124C-4BE1-8164-D0E8BB023F29}" dt="2025-11-26T07:20:24.441" v="42"/>
          <ac:picMkLst>
            <pc:docMk/>
            <pc:sldMk cId="1400103750" sldId="259"/>
            <ac:picMk id="8" creationId="{DC1206E0-4EA0-63C5-41E4-77D20B9B8A87}"/>
          </ac:picMkLst>
        </pc:picChg>
        <pc:picChg chg="add del mod">
          <ac:chgData name="Vikas Chandra" userId="d7dd30bfddba3699" providerId="LiveId" clId="{CAD8CB0C-124C-4BE1-8164-D0E8BB023F29}" dt="2025-11-26T07:38:40.588" v="82"/>
          <ac:picMkLst>
            <pc:docMk/>
            <pc:sldMk cId="1400103750" sldId="259"/>
            <ac:picMk id="9" creationId="{5B132048-D795-5F0E-96B2-DAA2937E61CF}"/>
          </ac:picMkLst>
        </pc:picChg>
      </pc:sldChg>
      <pc:sldChg chg="addSp delSp modSp mod modTransition modAnim">
        <pc:chgData name="Vikas Chandra" userId="d7dd30bfddba3699" providerId="LiveId" clId="{CAD8CB0C-124C-4BE1-8164-D0E8BB023F29}" dt="2025-11-26T07:38:40.588" v="82"/>
        <pc:sldMkLst>
          <pc:docMk/>
          <pc:sldMk cId="1391706575" sldId="260"/>
        </pc:sldMkLst>
        <pc:picChg chg="add del mod">
          <ac:chgData name="Vikas Chandra" userId="d7dd30bfddba3699" providerId="LiveId" clId="{CAD8CB0C-124C-4BE1-8164-D0E8BB023F29}" dt="2025-11-26T07:11:52.166" v="41"/>
          <ac:picMkLst>
            <pc:docMk/>
            <pc:sldMk cId="1391706575" sldId="260"/>
            <ac:picMk id="7" creationId="{93E991A1-052C-339D-3C68-4B80EA09BEA3}"/>
          </ac:picMkLst>
        </pc:picChg>
        <pc:picChg chg="add del mod ord">
          <ac:chgData name="Vikas Chandra" userId="d7dd30bfddba3699" providerId="LiveId" clId="{CAD8CB0C-124C-4BE1-8164-D0E8BB023F29}" dt="2025-11-26T07:20:24.441" v="42"/>
          <ac:picMkLst>
            <pc:docMk/>
            <pc:sldMk cId="1391706575" sldId="260"/>
            <ac:picMk id="8" creationId="{2F85134B-8C1F-07F1-C216-562920FEED3C}"/>
          </ac:picMkLst>
        </pc:picChg>
        <pc:picChg chg="add del mod">
          <ac:chgData name="Vikas Chandra" userId="d7dd30bfddba3699" providerId="LiveId" clId="{CAD8CB0C-124C-4BE1-8164-D0E8BB023F29}" dt="2025-11-26T07:38:40.588" v="82"/>
          <ac:picMkLst>
            <pc:docMk/>
            <pc:sldMk cId="1391706575" sldId="260"/>
            <ac:picMk id="9" creationId="{1219C7A4-8BB9-7DF7-9195-F6398A6EE4E4}"/>
          </ac:picMkLst>
        </pc:picChg>
      </pc:sldChg>
      <pc:sldChg chg="addSp delSp modSp mod modTransition modAnim">
        <pc:chgData name="Vikas Chandra" userId="d7dd30bfddba3699" providerId="LiveId" clId="{CAD8CB0C-124C-4BE1-8164-D0E8BB023F29}" dt="2025-11-26T07:38:40.588" v="82"/>
        <pc:sldMkLst>
          <pc:docMk/>
          <pc:sldMk cId="203016025" sldId="261"/>
        </pc:sldMkLst>
        <pc:picChg chg="add del mod">
          <ac:chgData name="Vikas Chandra" userId="d7dd30bfddba3699" providerId="LiveId" clId="{CAD8CB0C-124C-4BE1-8164-D0E8BB023F29}" dt="2025-11-26T07:11:52.166" v="41"/>
          <ac:picMkLst>
            <pc:docMk/>
            <pc:sldMk cId="203016025" sldId="261"/>
            <ac:picMk id="6" creationId="{DADD0BCD-ABD5-D3AF-D566-48E57B7F11E5}"/>
          </ac:picMkLst>
        </pc:picChg>
        <pc:picChg chg="add del mod ord">
          <ac:chgData name="Vikas Chandra" userId="d7dd30bfddba3699" providerId="LiveId" clId="{CAD8CB0C-124C-4BE1-8164-D0E8BB023F29}" dt="2025-11-26T07:20:24.441" v="42"/>
          <ac:picMkLst>
            <pc:docMk/>
            <pc:sldMk cId="203016025" sldId="261"/>
            <ac:picMk id="7" creationId="{482D8634-B0B6-C749-9DE9-804A91459EC4}"/>
          </ac:picMkLst>
        </pc:picChg>
        <pc:picChg chg="add del mod">
          <ac:chgData name="Vikas Chandra" userId="d7dd30bfddba3699" providerId="LiveId" clId="{CAD8CB0C-124C-4BE1-8164-D0E8BB023F29}" dt="2025-11-26T07:38:40.588" v="82"/>
          <ac:picMkLst>
            <pc:docMk/>
            <pc:sldMk cId="203016025" sldId="261"/>
            <ac:picMk id="8" creationId="{1EC14D81-8034-CF00-D7B3-94BEE1364D71}"/>
          </ac:picMkLst>
        </pc:picChg>
      </pc:sldChg>
      <pc:sldChg chg="addSp delSp modSp mod modTransition modAnim">
        <pc:chgData name="Vikas Chandra" userId="d7dd30bfddba3699" providerId="LiveId" clId="{CAD8CB0C-124C-4BE1-8164-D0E8BB023F29}" dt="2025-11-26T07:38:40.588" v="82"/>
        <pc:sldMkLst>
          <pc:docMk/>
          <pc:sldMk cId="3867447561" sldId="262"/>
        </pc:sldMkLst>
        <pc:picChg chg="add del mod">
          <ac:chgData name="Vikas Chandra" userId="d7dd30bfddba3699" providerId="LiveId" clId="{CAD8CB0C-124C-4BE1-8164-D0E8BB023F29}" dt="2025-11-26T07:11:52.166" v="41"/>
          <ac:picMkLst>
            <pc:docMk/>
            <pc:sldMk cId="3867447561" sldId="262"/>
            <ac:picMk id="6" creationId="{4253B36A-FE89-CACB-178E-BDBB8DCE171C}"/>
          </ac:picMkLst>
        </pc:picChg>
        <pc:picChg chg="add del mod ord">
          <ac:chgData name="Vikas Chandra" userId="d7dd30bfddba3699" providerId="LiveId" clId="{CAD8CB0C-124C-4BE1-8164-D0E8BB023F29}" dt="2025-11-26T07:20:24.441" v="42"/>
          <ac:picMkLst>
            <pc:docMk/>
            <pc:sldMk cId="3867447561" sldId="262"/>
            <ac:picMk id="9" creationId="{5070E8D6-980F-4FC8-C0B2-3A3A91AEF86E}"/>
          </ac:picMkLst>
        </pc:picChg>
        <pc:picChg chg="add del mod">
          <ac:chgData name="Vikas Chandra" userId="d7dd30bfddba3699" providerId="LiveId" clId="{CAD8CB0C-124C-4BE1-8164-D0E8BB023F29}" dt="2025-11-26T07:38:40.588" v="82"/>
          <ac:picMkLst>
            <pc:docMk/>
            <pc:sldMk cId="3867447561" sldId="262"/>
            <ac:picMk id="10" creationId="{9ED26168-092A-64DB-64EF-D97BCA4C5668}"/>
          </ac:picMkLst>
        </pc:picChg>
      </pc:sldChg>
      <pc:sldChg chg="addSp delSp modSp modTransition modAnim">
        <pc:chgData name="Vikas Chandra" userId="d7dd30bfddba3699" providerId="LiveId" clId="{CAD8CB0C-124C-4BE1-8164-D0E8BB023F29}" dt="2025-11-26T07:38:40.588" v="82"/>
        <pc:sldMkLst>
          <pc:docMk/>
          <pc:sldMk cId="1034803892" sldId="263"/>
        </pc:sldMkLst>
        <pc:picChg chg="add del mod">
          <ac:chgData name="Vikas Chandra" userId="d7dd30bfddba3699" providerId="LiveId" clId="{CAD8CB0C-124C-4BE1-8164-D0E8BB023F29}" dt="2025-11-26T07:38:40.588" v="82"/>
          <ac:picMkLst>
            <pc:docMk/>
            <pc:sldMk cId="1034803892" sldId="263"/>
            <ac:picMk id="8" creationId="{BB1890FF-2CEE-E47F-4CD1-627D01C19BA5}"/>
          </ac:picMkLst>
        </pc:picChg>
      </pc:sldChg>
      <pc:sldChg chg="addSp delSp modSp modTransition modAnim">
        <pc:chgData name="Vikas Chandra" userId="d7dd30bfddba3699" providerId="LiveId" clId="{CAD8CB0C-124C-4BE1-8164-D0E8BB023F29}" dt="2025-11-26T07:38:40.588" v="82"/>
        <pc:sldMkLst>
          <pc:docMk/>
          <pc:sldMk cId="469301061" sldId="264"/>
        </pc:sldMkLst>
        <pc:picChg chg="add del mod">
          <ac:chgData name="Vikas Chandra" userId="d7dd30bfddba3699" providerId="LiveId" clId="{CAD8CB0C-124C-4BE1-8164-D0E8BB023F29}" dt="2025-11-26T07:38:40.588" v="82"/>
          <ac:picMkLst>
            <pc:docMk/>
            <pc:sldMk cId="469301061" sldId="264"/>
            <ac:picMk id="6" creationId="{831D1A6E-08AB-F8BC-27DB-F0E4ECBB43A8}"/>
          </ac:picMkLst>
        </pc:picChg>
      </pc:sldChg>
      <pc:sldChg chg="addSp delSp modSp modTransition modAnim">
        <pc:chgData name="Vikas Chandra" userId="d7dd30bfddba3699" providerId="LiveId" clId="{CAD8CB0C-124C-4BE1-8164-D0E8BB023F29}" dt="2025-11-26T07:38:40.588" v="82"/>
        <pc:sldMkLst>
          <pc:docMk/>
          <pc:sldMk cId="45557477" sldId="265"/>
        </pc:sldMkLst>
        <pc:picChg chg="add del mod">
          <ac:chgData name="Vikas Chandra" userId="d7dd30bfddba3699" providerId="LiveId" clId="{CAD8CB0C-124C-4BE1-8164-D0E8BB023F29}" dt="2025-11-26T07:38:40.588" v="82"/>
          <ac:picMkLst>
            <pc:docMk/>
            <pc:sldMk cId="45557477" sldId="265"/>
            <ac:picMk id="6" creationId="{34E6FB22-1309-BAD7-A612-45DA35796217}"/>
          </ac:picMkLst>
        </pc:picChg>
      </pc:sldChg>
      <pc:sldChg chg="addSp delSp modSp mod modTransition modAnim">
        <pc:chgData name="Vikas Chandra" userId="d7dd30bfddba3699" providerId="LiveId" clId="{CAD8CB0C-124C-4BE1-8164-D0E8BB023F29}" dt="2025-11-26T07:38:40.588" v="82"/>
        <pc:sldMkLst>
          <pc:docMk/>
          <pc:sldMk cId="73529964" sldId="266"/>
        </pc:sldMkLst>
        <pc:spChg chg="mod">
          <ac:chgData name="Vikas Chandra" userId="d7dd30bfddba3699" providerId="LiveId" clId="{CAD8CB0C-124C-4BE1-8164-D0E8BB023F29}" dt="2025-11-26T06:55:15.462" v="26" actId="27636"/>
          <ac:spMkLst>
            <pc:docMk/>
            <pc:sldMk cId="73529964" sldId="266"/>
            <ac:spMk id="2" creationId="{430A3A63-7CFE-F061-60B0-BB7E976DFF15}"/>
          </ac:spMkLst>
        </pc:spChg>
        <pc:picChg chg="add del mod">
          <ac:chgData name="Vikas Chandra" userId="d7dd30bfddba3699" providerId="LiveId" clId="{CAD8CB0C-124C-4BE1-8164-D0E8BB023F29}" dt="2025-11-26T07:38:40.588" v="82"/>
          <ac:picMkLst>
            <pc:docMk/>
            <pc:sldMk cId="73529964" sldId="266"/>
            <ac:picMk id="6" creationId="{0C848B2B-D6AE-B486-B429-029F91094EDB}"/>
          </ac:picMkLst>
        </pc:picChg>
      </pc:sldChg>
      <pc:sldChg chg="addSp delSp modSp modTransition modAnim">
        <pc:chgData name="Vikas Chandra" userId="d7dd30bfddba3699" providerId="LiveId" clId="{CAD8CB0C-124C-4BE1-8164-D0E8BB023F29}" dt="2025-11-26T07:38:40.588" v="82"/>
        <pc:sldMkLst>
          <pc:docMk/>
          <pc:sldMk cId="2454247004" sldId="267"/>
        </pc:sldMkLst>
        <pc:picChg chg="add del mod">
          <ac:chgData name="Vikas Chandra" userId="d7dd30bfddba3699" providerId="LiveId" clId="{CAD8CB0C-124C-4BE1-8164-D0E8BB023F29}" dt="2025-11-26T07:38:40.588" v="82"/>
          <ac:picMkLst>
            <pc:docMk/>
            <pc:sldMk cId="2454247004" sldId="267"/>
            <ac:picMk id="6" creationId="{7AD9A1E7-93A3-E8C8-F075-E4A3DC94E822}"/>
          </ac:picMkLst>
        </pc:picChg>
      </pc:sldChg>
      <pc:sldChg chg="addSp delSp modSp modTransition modAnim">
        <pc:chgData name="Vikas Chandra" userId="d7dd30bfddba3699" providerId="LiveId" clId="{CAD8CB0C-124C-4BE1-8164-D0E8BB023F29}" dt="2025-11-26T07:38:40.588" v="82"/>
        <pc:sldMkLst>
          <pc:docMk/>
          <pc:sldMk cId="1708530815" sldId="268"/>
        </pc:sldMkLst>
        <pc:picChg chg="add del mod">
          <ac:chgData name="Vikas Chandra" userId="d7dd30bfddba3699" providerId="LiveId" clId="{CAD8CB0C-124C-4BE1-8164-D0E8BB023F29}" dt="2025-11-26T07:38:40.588" v="82"/>
          <ac:picMkLst>
            <pc:docMk/>
            <pc:sldMk cId="1708530815" sldId="268"/>
            <ac:picMk id="6" creationId="{7CB9081F-ED79-8586-4B54-C00A78735DFA}"/>
          </ac:picMkLst>
        </pc:picChg>
      </pc:sldChg>
      <pc:sldChg chg="addSp delSp modSp modTransition modAnim">
        <pc:chgData name="Vikas Chandra" userId="d7dd30bfddba3699" providerId="LiveId" clId="{CAD8CB0C-124C-4BE1-8164-D0E8BB023F29}" dt="2025-11-26T07:38:40.588" v="82"/>
        <pc:sldMkLst>
          <pc:docMk/>
          <pc:sldMk cId="3987338264" sldId="269"/>
        </pc:sldMkLst>
        <pc:picChg chg="add del mod">
          <ac:chgData name="Vikas Chandra" userId="d7dd30bfddba3699" providerId="LiveId" clId="{CAD8CB0C-124C-4BE1-8164-D0E8BB023F29}" dt="2025-11-26T07:38:40.588" v="82"/>
          <ac:picMkLst>
            <pc:docMk/>
            <pc:sldMk cId="3987338264" sldId="269"/>
            <ac:picMk id="6" creationId="{64B99741-3143-5574-C506-86A6F1CFA2C0}"/>
          </ac:picMkLst>
        </pc:picChg>
      </pc:sldChg>
      <pc:sldChg chg="addSp delSp modSp modTransition modAnim">
        <pc:chgData name="Vikas Chandra" userId="d7dd30bfddba3699" providerId="LiveId" clId="{CAD8CB0C-124C-4BE1-8164-D0E8BB023F29}" dt="2025-11-26T07:38:40.588" v="82"/>
        <pc:sldMkLst>
          <pc:docMk/>
          <pc:sldMk cId="334568661" sldId="270"/>
        </pc:sldMkLst>
        <pc:picChg chg="add del mod">
          <ac:chgData name="Vikas Chandra" userId="d7dd30bfddba3699" providerId="LiveId" clId="{CAD8CB0C-124C-4BE1-8164-D0E8BB023F29}" dt="2025-11-26T07:38:40.588" v="82"/>
          <ac:picMkLst>
            <pc:docMk/>
            <pc:sldMk cId="334568661" sldId="270"/>
            <ac:picMk id="6" creationId="{EB66BB3A-8AA6-1E54-8523-88C5DA1DD7A5}"/>
          </ac:picMkLst>
        </pc:picChg>
      </pc:sldChg>
      <pc:sldChg chg="addSp delSp modSp modTransition modAnim">
        <pc:chgData name="Vikas Chandra" userId="d7dd30bfddba3699" providerId="LiveId" clId="{CAD8CB0C-124C-4BE1-8164-D0E8BB023F29}" dt="2025-11-26T07:38:40.588" v="82"/>
        <pc:sldMkLst>
          <pc:docMk/>
          <pc:sldMk cId="2555292624" sldId="271"/>
        </pc:sldMkLst>
        <pc:picChg chg="add del mod">
          <ac:chgData name="Vikas Chandra" userId="d7dd30bfddba3699" providerId="LiveId" clId="{CAD8CB0C-124C-4BE1-8164-D0E8BB023F29}" dt="2025-11-26T07:38:40.588" v="82"/>
          <ac:picMkLst>
            <pc:docMk/>
            <pc:sldMk cId="2555292624" sldId="271"/>
            <ac:picMk id="6" creationId="{85F96D1C-38D2-4D34-194A-4E8FAB41AA8D}"/>
          </ac:picMkLst>
        </pc:picChg>
      </pc:sldChg>
      <pc:sldChg chg="addSp delSp modSp modTransition modAnim">
        <pc:chgData name="Vikas Chandra" userId="d7dd30bfddba3699" providerId="LiveId" clId="{CAD8CB0C-124C-4BE1-8164-D0E8BB023F29}" dt="2025-11-26T07:38:40.588" v="82"/>
        <pc:sldMkLst>
          <pc:docMk/>
          <pc:sldMk cId="951730371" sldId="272"/>
        </pc:sldMkLst>
        <pc:picChg chg="add del mod">
          <ac:chgData name="Vikas Chandra" userId="d7dd30bfddba3699" providerId="LiveId" clId="{CAD8CB0C-124C-4BE1-8164-D0E8BB023F29}" dt="2025-11-26T07:38:40.588" v="82"/>
          <ac:picMkLst>
            <pc:docMk/>
            <pc:sldMk cId="951730371" sldId="272"/>
            <ac:picMk id="6" creationId="{688D3A4F-90BA-5730-482F-255678A86EC2}"/>
          </ac:picMkLst>
        </pc:picChg>
      </pc:sldChg>
      <pc:sldChg chg="addSp delSp modSp modTransition modAnim">
        <pc:chgData name="Vikas Chandra" userId="d7dd30bfddba3699" providerId="LiveId" clId="{CAD8CB0C-124C-4BE1-8164-D0E8BB023F29}" dt="2025-11-26T07:38:40.588" v="82"/>
        <pc:sldMkLst>
          <pc:docMk/>
          <pc:sldMk cId="633242825" sldId="273"/>
        </pc:sldMkLst>
        <pc:picChg chg="add del mod">
          <ac:chgData name="Vikas Chandra" userId="d7dd30bfddba3699" providerId="LiveId" clId="{CAD8CB0C-124C-4BE1-8164-D0E8BB023F29}" dt="2025-11-26T07:38:40.588" v="82"/>
          <ac:picMkLst>
            <pc:docMk/>
            <pc:sldMk cId="633242825" sldId="273"/>
            <ac:picMk id="6" creationId="{7A8AF36E-B2D5-7180-8965-C6822C01D761}"/>
          </ac:picMkLst>
        </pc:picChg>
      </pc:sldChg>
      <pc:sldChg chg="addSp delSp modSp modTransition modAnim">
        <pc:chgData name="Vikas Chandra" userId="d7dd30bfddba3699" providerId="LiveId" clId="{CAD8CB0C-124C-4BE1-8164-D0E8BB023F29}" dt="2025-11-26T07:38:40.588" v="82"/>
        <pc:sldMkLst>
          <pc:docMk/>
          <pc:sldMk cId="149857236" sldId="274"/>
        </pc:sldMkLst>
        <pc:picChg chg="add del mod">
          <ac:chgData name="Vikas Chandra" userId="d7dd30bfddba3699" providerId="LiveId" clId="{CAD8CB0C-124C-4BE1-8164-D0E8BB023F29}" dt="2025-11-26T07:38:40.588" v="82"/>
          <ac:picMkLst>
            <pc:docMk/>
            <pc:sldMk cId="149857236" sldId="274"/>
            <ac:picMk id="6" creationId="{334B2194-A976-689A-F0AD-F38EFEF6F62B}"/>
          </ac:picMkLst>
        </pc:picChg>
      </pc:sldChg>
      <pc:sldChg chg="addSp delSp modSp modTransition modAnim">
        <pc:chgData name="Vikas Chandra" userId="d7dd30bfddba3699" providerId="LiveId" clId="{CAD8CB0C-124C-4BE1-8164-D0E8BB023F29}" dt="2025-11-26T07:38:40.588" v="82"/>
        <pc:sldMkLst>
          <pc:docMk/>
          <pc:sldMk cId="2202509575" sldId="275"/>
        </pc:sldMkLst>
        <pc:picChg chg="add del mod">
          <ac:chgData name="Vikas Chandra" userId="d7dd30bfddba3699" providerId="LiveId" clId="{CAD8CB0C-124C-4BE1-8164-D0E8BB023F29}" dt="2025-11-26T07:38:40.588" v="82"/>
          <ac:picMkLst>
            <pc:docMk/>
            <pc:sldMk cId="2202509575" sldId="275"/>
            <ac:picMk id="6" creationId="{D5FFB1AF-836F-4883-7B81-66BFF3F71054}"/>
          </ac:picMkLst>
        </pc:picChg>
      </pc:sldChg>
      <pc:sldChg chg="addSp delSp modSp mod modTransition modAnim">
        <pc:chgData name="Vikas Chandra" userId="d7dd30bfddba3699" providerId="LiveId" clId="{CAD8CB0C-124C-4BE1-8164-D0E8BB023F29}" dt="2025-11-26T07:38:40.588" v="82"/>
        <pc:sldMkLst>
          <pc:docMk/>
          <pc:sldMk cId="156269949" sldId="276"/>
        </pc:sldMkLst>
        <pc:spChg chg="mod">
          <ac:chgData name="Vikas Chandra" userId="d7dd30bfddba3699" providerId="LiveId" clId="{CAD8CB0C-124C-4BE1-8164-D0E8BB023F29}" dt="2025-11-26T06:55:15.474" v="27" actId="27636"/>
          <ac:spMkLst>
            <pc:docMk/>
            <pc:sldMk cId="156269949" sldId="276"/>
            <ac:spMk id="2" creationId="{D64001FD-B835-EC30-ED70-C23ACBD8B4AD}"/>
          </ac:spMkLst>
        </pc:spChg>
        <pc:spChg chg="mod">
          <ac:chgData name="Vikas Chandra" userId="d7dd30bfddba3699" providerId="LiveId" clId="{CAD8CB0C-124C-4BE1-8164-D0E8BB023F29}" dt="2025-11-26T06:55:15.494" v="28" actId="27636"/>
          <ac:spMkLst>
            <pc:docMk/>
            <pc:sldMk cId="156269949" sldId="276"/>
            <ac:spMk id="3" creationId="{26F5F899-002C-F3A8-A672-708E032D9F77}"/>
          </ac:spMkLst>
        </pc:spChg>
        <pc:picChg chg="add del mod">
          <ac:chgData name="Vikas Chandra" userId="d7dd30bfddba3699" providerId="LiveId" clId="{CAD8CB0C-124C-4BE1-8164-D0E8BB023F29}" dt="2025-11-26T07:38:40.588" v="82"/>
          <ac:picMkLst>
            <pc:docMk/>
            <pc:sldMk cId="156269949" sldId="276"/>
            <ac:picMk id="6" creationId="{DA3CCB4F-5F51-FEA7-8764-4B127F370223}"/>
          </ac:picMkLst>
        </pc:picChg>
      </pc:sldChg>
      <pc:sldChg chg="addSp delSp modSp modTransition modAnim">
        <pc:chgData name="Vikas Chandra" userId="d7dd30bfddba3699" providerId="LiveId" clId="{CAD8CB0C-124C-4BE1-8164-D0E8BB023F29}" dt="2025-11-26T07:38:40.588" v="82"/>
        <pc:sldMkLst>
          <pc:docMk/>
          <pc:sldMk cId="1421559216" sldId="277"/>
        </pc:sldMkLst>
        <pc:picChg chg="add del mod">
          <ac:chgData name="Vikas Chandra" userId="d7dd30bfddba3699" providerId="LiveId" clId="{CAD8CB0C-124C-4BE1-8164-D0E8BB023F29}" dt="2025-11-26T07:38:40.588" v="82"/>
          <ac:picMkLst>
            <pc:docMk/>
            <pc:sldMk cId="1421559216" sldId="277"/>
            <ac:picMk id="6" creationId="{6C45C10B-9C2B-88FF-541A-98735DC7CE5B}"/>
          </ac:picMkLst>
        </pc:picChg>
      </pc:sldChg>
      <pc:sldChg chg="addSp delSp modSp modTransition modAnim">
        <pc:chgData name="Vikas Chandra" userId="d7dd30bfddba3699" providerId="LiveId" clId="{CAD8CB0C-124C-4BE1-8164-D0E8BB023F29}" dt="2025-11-26T07:38:40.588" v="82"/>
        <pc:sldMkLst>
          <pc:docMk/>
          <pc:sldMk cId="2415173947" sldId="278"/>
        </pc:sldMkLst>
        <pc:picChg chg="add del mod">
          <ac:chgData name="Vikas Chandra" userId="d7dd30bfddba3699" providerId="LiveId" clId="{CAD8CB0C-124C-4BE1-8164-D0E8BB023F29}" dt="2025-11-26T07:38:40.588" v="82"/>
          <ac:picMkLst>
            <pc:docMk/>
            <pc:sldMk cId="2415173947" sldId="278"/>
            <ac:picMk id="7" creationId="{D1BF7570-5F6D-C96F-11EC-A6CC952C4AA3}"/>
          </ac:picMkLst>
        </pc:picChg>
      </pc:sldChg>
      <pc:sldChg chg="addSp delSp modSp modTransition modAnim">
        <pc:chgData name="Vikas Chandra" userId="d7dd30bfddba3699" providerId="LiveId" clId="{CAD8CB0C-124C-4BE1-8164-D0E8BB023F29}" dt="2025-11-26T07:38:40.588" v="82"/>
        <pc:sldMkLst>
          <pc:docMk/>
          <pc:sldMk cId="3807139291" sldId="279"/>
        </pc:sldMkLst>
        <pc:picChg chg="add del mod">
          <ac:chgData name="Vikas Chandra" userId="d7dd30bfddba3699" providerId="LiveId" clId="{CAD8CB0C-124C-4BE1-8164-D0E8BB023F29}" dt="2025-11-26T07:38:40.588" v="82"/>
          <ac:picMkLst>
            <pc:docMk/>
            <pc:sldMk cId="3807139291" sldId="279"/>
            <ac:picMk id="6" creationId="{5AB677C0-B16E-2C65-3849-13EAA19013E1}"/>
          </ac:picMkLst>
        </pc:picChg>
      </pc:sldChg>
      <pc:sldChg chg="addSp delSp modSp mod modTransition modAnim">
        <pc:chgData name="Vikas Chandra" userId="d7dd30bfddba3699" providerId="LiveId" clId="{CAD8CB0C-124C-4BE1-8164-D0E8BB023F29}" dt="2025-11-26T07:38:40.588" v="82"/>
        <pc:sldMkLst>
          <pc:docMk/>
          <pc:sldMk cId="3331235835" sldId="280"/>
        </pc:sldMkLst>
        <pc:spChg chg="mod">
          <ac:chgData name="Vikas Chandra" userId="d7dd30bfddba3699" providerId="LiveId" clId="{CAD8CB0C-124C-4BE1-8164-D0E8BB023F29}" dt="2025-11-26T06:55:15.514" v="29" actId="27636"/>
          <ac:spMkLst>
            <pc:docMk/>
            <pc:sldMk cId="3331235835" sldId="280"/>
            <ac:spMk id="2" creationId="{F273058A-AE88-75AF-ABAA-B3F1CC52E8F5}"/>
          </ac:spMkLst>
        </pc:spChg>
        <pc:spChg chg="mod">
          <ac:chgData name="Vikas Chandra" userId="d7dd30bfddba3699" providerId="LiveId" clId="{CAD8CB0C-124C-4BE1-8164-D0E8BB023F29}" dt="2025-11-26T06:55:15.518" v="30" actId="27636"/>
          <ac:spMkLst>
            <pc:docMk/>
            <pc:sldMk cId="3331235835" sldId="280"/>
            <ac:spMk id="3" creationId="{E23CBF2A-2FF4-D8C3-0B30-C8C54F21FE8E}"/>
          </ac:spMkLst>
        </pc:spChg>
        <pc:picChg chg="add del mod">
          <ac:chgData name="Vikas Chandra" userId="d7dd30bfddba3699" providerId="LiveId" clId="{CAD8CB0C-124C-4BE1-8164-D0E8BB023F29}" dt="2025-11-26T07:38:40.588" v="82"/>
          <ac:picMkLst>
            <pc:docMk/>
            <pc:sldMk cId="3331235835" sldId="280"/>
            <ac:picMk id="6" creationId="{CBDE313F-38D2-4185-92F1-E47F9275509C}"/>
          </ac:picMkLst>
        </pc:picChg>
      </pc:sldChg>
      <pc:sldChg chg="addSp delSp modSp modTransition modAnim">
        <pc:chgData name="Vikas Chandra" userId="d7dd30bfddba3699" providerId="LiveId" clId="{CAD8CB0C-124C-4BE1-8164-D0E8BB023F29}" dt="2025-11-26T07:38:40.588" v="82"/>
        <pc:sldMkLst>
          <pc:docMk/>
          <pc:sldMk cId="4261073794" sldId="281"/>
        </pc:sldMkLst>
        <pc:picChg chg="add del mod">
          <ac:chgData name="Vikas Chandra" userId="d7dd30bfddba3699" providerId="LiveId" clId="{CAD8CB0C-124C-4BE1-8164-D0E8BB023F29}" dt="2025-11-26T07:38:40.588" v="82"/>
          <ac:picMkLst>
            <pc:docMk/>
            <pc:sldMk cId="4261073794" sldId="281"/>
            <ac:picMk id="6" creationId="{1B054770-A234-8731-37CB-DF2019AC5217}"/>
          </ac:picMkLst>
        </pc:picChg>
      </pc:sldChg>
      <pc:sldChg chg="addSp delSp modSp modTransition modAnim">
        <pc:chgData name="Vikas Chandra" userId="d7dd30bfddba3699" providerId="LiveId" clId="{CAD8CB0C-124C-4BE1-8164-D0E8BB023F29}" dt="2025-11-26T07:38:40.588" v="82"/>
        <pc:sldMkLst>
          <pc:docMk/>
          <pc:sldMk cId="3117067155" sldId="282"/>
        </pc:sldMkLst>
        <pc:picChg chg="add del mod">
          <ac:chgData name="Vikas Chandra" userId="d7dd30bfddba3699" providerId="LiveId" clId="{CAD8CB0C-124C-4BE1-8164-D0E8BB023F29}" dt="2025-11-26T07:38:40.588" v="82"/>
          <ac:picMkLst>
            <pc:docMk/>
            <pc:sldMk cId="3117067155" sldId="282"/>
            <ac:picMk id="6" creationId="{E89E76E2-AAFF-7D20-3237-267B80A92181}"/>
          </ac:picMkLst>
        </pc:picChg>
      </pc:sldChg>
      <pc:sldChg chg="addSp delSp modSp modTransition modAnim">
        <pc:chgData name="Vikas Chandra" userId="d7dd30bfddba3699" providerId="LiveId" clId="{CAD8CB0C-124C-4BE1-8164-D0E8BB023F29}" dt="2025-11-26T07:38:40.588" v="82"/>
        <pc:sldMkLst>
          <pc:docMk/>
          <pc:sldMk cId="1121194560" sldId="283"/>
        </pc:sldMkLst>
        <pc:picChg chg="add del mod">
          <ac:chgData name="Vikas Chandra" userId="d7dd30bfddba3699" providerId="LiveId" clId="{CAD8CB0C-124C-4BE1-8164-D0E8BB023F29}" dt="2025-11-26T07:38:40.588" v="82"/>
          <ac:picMkLst>
            <pc:docMk/>
            <pc:sldMk cId="1121194560" sldId="283"/>
            <ac:picMk id="6" creationId="{AB0553B8-A02B-F0CD-A100-C90AD80EFD25}"/>
          </ac:picMkLst>
        </pc:picChg>
      </pc:sldChg>
      <pc:sldChg chg="addSp delSp modSp modTransition modAnim">
        <pc:chgData name="Vikas Chandra" userId="d7dd30bfddba3699" providerId="LiveId" clId="{CAD8CB0C-124C-4BE1-8164-D0E8BB023F29}" dt="2025-11-26T07:38:40.588" v="82"/>
        <pc:sldMkLst>
          <pc:docMk/>
          <pc:sldMk cId="2907971481" sldId="284"/>
        </pc:sldMkLst>
        <pc:picChg chg="add del mod">
          <ac:chgData name="Vikas Chandra" userId="d7dd30bfddba3699" providerId="LiveId" clId="{CAD8CB0C-124C-4BE1-8164-D0E8BB023F29}" dt="2025-11-26T07:38:40.588" v="82"/>
          <ac:picMkLst>
            <pc:docMk/>
            <pc:sldMk cId="2907971481" sldId="284"/>
            <ac:picMk id="6" creationId="{E3A7993F-02CC-8FD7-782D-3870F45FCD07}"/>
          </ac:picMkLst>
        </pc:picChg>
      </pc:sldChg>
      <pc:sldChg chg="addSp delSp modSp modTransition modAnim">
        <pc:chgData name="Vikas Chandra" userId="d7dd30bfddba3699" providerId="LiveId" clId="{CAD8CB0C-124C-4BE1-8164-D0E8BB023F29}" dt="2025-11-26T07:38:40.588" v="82"/>
        <pc:sldMkLst>
          <pc:docMk/>
          <pc:sldMk cId="2660580179" sldId="285"/>
        </pc:sldMkLst>
        <pc:picChg chg="add del mod">
          <ac:chgData name="Vikas Chandra" userId="d7dd30bfddba3699" providerId="LiveId" clId="{CAD8CB0C-124C-4BE1-8164-D0E8BB023F29}" dt="2025-11-26T07:38:40.588" v="82"/>
          <ac:picMkLst>
            <pc:docMk/>
            <pc:sldMk cId="2660580179" sldId="285"/>
            <ac:picMk id="6" creationId="{DB74F617-66D0-001D-56E0-8390B97811F0}"/>
          </ac:picMkLst>
        </pc:picChg>
      </pc:sldChg>
      <pc:sldChg chg="addSp delSp modSp modTransition modAnim">
        <pc:chgData name="Vikas Chandra" userId="d7dd30bfddba3699" providerId="LiveId" clId="{CAD8CB0C-124C-4BE1-8164-D0E8BB023F29}" dt="2025-11-26T07:38:40.588" v="82"/>
        <pc:sldMkLst>
          <pc:docMk/>
          <pc:sldMk cId="3032026282" sldId="286"/>
        </pc:sldMkLst>
        <pc:picChg chg="add del mod">
          <ac:chgData name="Vikas Chandra" userId="d7dd30bfddba3699" providerId="LiveId" clId="{CAD8CB0C-124C-4BE1-8164-D0E8BB023F29}" dt="2025-11-26T07:38:40.588" v="82"/>
          <ac:picMkLst>
            <pc:docMk/>
            <pc:sldMk cId="3032026282" sldId="286"/>
            <ac:picMk id="6" creationId="{2BFE93D5-5300-FDBB-6DD5-A31ED8630887}"/>
          </ac:picMkLst>
        </pc:picChg>
      </pc:sldChg>
      <pc:sldChg chg="addSp delSp modSp modTransition modAnim">
        <pc:chgData name="Vikas Chandra" userId="d7dd30bfddba3699" providerId="LiveId" clId="{CAD8CB0C-124C-4BE1-8164-D0E8BB023F29}" dt="2025-11-26T07:38:40.588" v="82"/>
        <pc:sldMkLst>
          <pc:docMk/>
          <pc:sldMk cId="3998362232" sldId="287"/>
        </pc:sldMkLst>
        <pc:picChg chg="add del mod">
          <ac:chgData name="Vikas Chandra" userId="d7dd30bfddba3699" providerId="LiveId" clId="{CAD8CB0C-124C-4BE1-8164-D0E8BB023F29}" dt="2025-11-26T07:38:40.588" v="82"/>
          <ac:picMkLst>
            <pc:docMk/>
            <pc:sldMk cId="3998362232" sldId="287"/>
            <ac:picMk id="6" creationId="{6AE42CA6-7235-A1D3-1525-A3F01777D9EB}"/>
          </ac:picMkLst>
        </pc:picChg>
      </pc:sldChg>
      <pc:sldChg chg="modSp new mod modTransition">
        <pc:chgData name="Vikas Chandra" userId="d7dd30bfddba3699" providerId="LiveId" clId="{CAD8CB0C-124C-4BE1-8164-D0E8BB023F29}" dt="2025-11-26T07:38:40.588" v="82"/>
        <pc:sldMkLst>
          <pc:docMk/>
          <pc:sldMk cId="1172436679" sldId="288"/>
        </pc:sldMkLst>
        <pc:spChg chg="mod">
          <ac:chgData name="Vikas Chandra" userId="d7dd30bfddba3699" providerId="LiveId" clId="{CAD8CB0C-124C-4BE1-8164-D0E8BB023F29}" dt="2025-11-26T07:29:48.991" v="67" actId="20577"/>
          <ac:spMkLst>
            <pc:docMk/>
            <pc:sldMk cId="1172436679" sldId="288"/>
            <ac:spMk id="2" creationId="{96FC9AA8-85BF-9F16-A524-BA3C38A54F0A}"/>
          </ac:spMkLst>
        </pc:spChg>
        <pc:spChg chg="mod">
          <ac:chgData name="Vikas Chandra" userId="d7dd30bfddba3699" providerId="LiveId" clId="{CAD8CB0C-124C-4BE1-8164-D0E8BB023F29}" dt="2025-11-26T07:33:12.370" v="81" actId="20577"/>
          <ac:spMkLst>
            <pc:docMk/>
            <pc:sldMk cId="1172436679" sldId="288"/>
            <ac:spMk id="3" creationId="{EE53CE41-793D-F20B-4B07-51912B0F95BC}"/>
          </ac:spMkLst>
        </pc:spChg>
      </pc:sldChg>
      <pc:sldChg chg="new del">
        <pc:chgData name="Vikas Chandra" userId="d7dd30bfddba3699" providerId="LiveId" clId="{CAD8CB0C-124C-4BE1-8164-D0E8BB023F29}" dt="2025-11-26T07:29:23.648" v="44" actId="47"/>
        <pc:sldMkLst>
          <pc:docMk/>
          <pc:sldMk cId="3569242508" sldId="2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4B3F4B-AE3F-43D7-AC65-6F19960187FE}" type="datetimeFigureOut">
              <a:rPr lang="en-IN" smtClean="0"/>
              <a:t>26-11-2025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2C4596-4EF5-44F0-A46E-BA58CD1D75A4}" type="slidenum">
              <a:rPr lang="en-IN" smtClean="0"/>
              <a:t>‹#›</a:t>
            </a:fld>
            <a:endParaRPr lang="en-IN"/>
          </a:p>
        </p:txBody>
      </p:sp>
    </p:spTree>
    <p:extLst>
      <p:ext uri="{BB962C8B-B14F-4D97-AF65-F5344CB8AC3E}">
        <p14:creationId xmlns:p14="http://schemas.microsoft.com/office/powerpoint/2010/main" val="438640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32C4596-4EF5-44F0-A46E-BA58CD1D75A4}" type="slidenum">
              <a:rPr lang="en-IN" smtClean="0"/>
              <a:t>1</a:t>
            </a:fld>
            <a:endParaRPr lang="en-IN"/>
          </a:p>
        </p:txBody>
      </p:sp>
    </p:spTree>
    <p:extLst>
      <p:ext uri="{BB962C8B-B14F-4D97-AF65-F5344CB8AC3E}">
        <p14:creationId xmlns:p14="http://schemas.microsoft.com/office/powerpoint/2010/main" val="39136462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B9B560C-0D65-4CD3-9668-79B9B73AC604}" type="datetimeFigureOut">
              <a:rPr lang="en-IN" smtClean="0"/>
              <a:t>26-11-2025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3757689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B560C-0D65-4CD3-9668-79B9B73AC604}"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50228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B560C-0D65-4CD3-9668-79B9B73AC604}"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1142092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542327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9B560C-0D65-4CD3-9668-79B9B73AC604}" type="datetimeFigureOut">
              <a:rPr lang="en-IN" smtClean="0"/>
              <a:t>26-11-2025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3295459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9B560C-0D65-4CD3-9668-79B9B73AC604}" type="datetimeFigureOut">
              <a:rPr lang="en-IN" smtClean="0"/>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377082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9B560C-0D65-4CD3-9668-79B9B73AC604}" type="datetimeFigureOut">
              <a:rPr lang="en-IN" smtClean="0"/>
              <a:t>26-11-2025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3352564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46303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681828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4196684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046007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29001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9B560C-0D65-4CD3-9668-79B9B73AC604}" type="datetimeFigureOut">
              <a:rPr lang="en-IN" smtClean="0"/>
              <a:t>26-11-2025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1609047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9B560C-0D65-4CD3-9668-79B9B73AC604}" type="datetimeFigureOut">
              <a:rPr lang="en-IN" smtClean="0"/>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1039413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B9B560C-0D65-4CD3-9668-79B9B73AC604}" type="datetimeFigureOut">
              <a:rPr lang="en-IN" smtClean="0"/>
              <a:t>26-11-2025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4736620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B560C-0D65-4CD3-9668-79B9B73AC604}"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1371166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B560C-0D65-4CD3-9668-79B9B73AC604}" type="datetimeFigureOut">
              <a:rPr lang="en-IN" smtClean="0"/>
              <a:t>26-11-2025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9D26868-A760-4755-91D4-97287CA8869A}" type="slidenum">
              <a:rPr lang="en-IN" smtClean="0"/>
              <a:t>‹#›</a:t>
            </a:fld>
            <a:endParaRPr lang="en-IN"/>
          </a:p>
        </p:txBody>
      </p:sp>
    </p:spTree>
    <p:extLst>
      <p:ext uri="{BB962C8B-B14F-4D97-AF65-F5344CB8AC3E}">
        <p14:creationId xmlns:p14="http://schemas.microsoft.com/office/powerpoint/2010/main" val="2359299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B9B560C-0D65-4CD3-9668-79B9B73AC604}" type="datetimeFigureOut">
              <a:rPr lang="en-IN" smtClean="0"/>
              <a:t>26-11-2025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9D26868-A760-4755-91D4-97287CA8869A}" type="slidenum">
              <a:rPr lang="en-IN" smtClean="0"/>
              <a:t>‹#›</a:t>
            </a:fld>
            <a:endParaRPr lang="en-IN"/>
          </a:p>
        </p:txBody>
      </p:sp>
    </p:spTree>
    <p:extLst>
      <p:ext uri="{BB962C8B-B14F-4D97-AF65-F5344CB8AC3E}">
        <p14:creationId xmlns:p14="http://schemas.microsoft.com/office/powerpoint/2010/main" val="417616631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package" Target="../embeddings/Microsoft_Excel_Worksheet.xlsx"/><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package" Target="../embeddings/Microsoft_Excel_Worksheet1.xlsx"/><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package" Target="../embeddings/Microsoft_Excel_Worksheet2.xlsx"/><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package" Target="../embeddings/Microsoft_Excel_Worksheet3.xlsx"/><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package" Target="../embeddings/Microsoft_Excel_Worksheet4.xlsx"/><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package" Target="../embeddings/Microsoft_Excel_Worksheet5.xlsx"/><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package" Target="../embeddings/Microsoft_Excel_Worksheet6.xlsx"/><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package" Target="../embeddings/Microsoft_Excel_Worksheet7.xlsx"/><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package" Target="../embeddings/Microsoft_Excel_Worksheet8.xlsx"/><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package" Target="../embeddings/Microsoft_Excel_Worksheet9.xlsx"/><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package" Target="../embeddings/Microsoft_Excel_Worksheet10.xlsx"/><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package" Target="../embeddings/Microsoft_Excel_Worksheet11.xlsx"/><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package" Target="../embeddings/Microsoft_Excel_Worksheet12.xlsx"/><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package" Target="../embeddings/Microsoft_Excel_Worksheet13.xlsx"/><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package" Target="../embeddings/Microsoft_Excel_Worksheet14.xlsx"/><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package" Target="../embeddings/Microsoft_Excel_Worksheet15.xlsx"/><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package" Target="../embeddings/Microsoft_Excel_Worksheet16.xlsx"/><Relationship Id="rId1" Type="http://schemas.openxmlformats.org/officeDocument/2006/relationships/slideLayout" Target="../slideLayouts/slideLayout6.xml"/><Relationship Id="rId5" Type="http://schemas.openxmlformats.org/officeDocument/2006/relationships/image" Target="../media/image20.emf"/><Relationship Id="rId4" Type="http://schemas.openxmlformats.org/officeDocument/2006/relationships/package" Target="../embeddings/Microsoft_Excel_Worksheet17.xlsx"/></Relationships>
</file>

<file path=ppt/slides/_rels/slide2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package" Target="../embeddings/Microsoft_Excel_Worksheet18.xlsx"/><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Excel_Worksheet19.xlsx"/><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package" Target="../embeddings/Microsoft_Excel_Worksheet20.xlsx"/><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package" Target="../embeddings/Microsoft_Excel_Worksheet21.xlsx"/><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package" Target="../embeddings/Microsoft_Excel_Worksheet22.xlsx"/><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package" Target="../embeddings/Microsoft_Excel_Worksheet23.xlsx"/><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package" Target="../embeddings/Microsoft_Excel_Worksheet24.xlsx"/><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rgbClr val="FFFF0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67CCA-C2FE-1F8F-6BB8-E219F6FE7163}"/>
              </a:ext>
            </a:extLst>
          </p:cNvPr>
          <p:cNvSpPr>
            <a:spLocks noGrp="1"/>
          </p:cNvSpPr>
          <p:nvPr>
            <p:ph type="ctrTitle"/>
          </p:nvPr>
        </p:nvSpPr>
        <p:spPr/>
        <p:txBody>
          <a:bodyPr/>
          <a:lstStyle/>
          <a:p>
            <a:r>
              <a:rPr lang="en-US" dirty="0"/>
              <a:t>Logistics Optimization for Delivery Routes – Flipkart </a:t>
            </a:r>
            <a:endParaRPr lang="en-IN" dirty="0"/>
          </a:p>
        </p:txBody>
      </p:sp>
      <p:sp>
        <p:nvSpPr>
          <p:cNvPr id="3" name="Subtitle 2">
            <a:extLst>
              <a:ext uri="{FF2B5EF4-FFF2-40B4-BE49-F238E27FC236}">
                <a16:creationId xmlns:a16="http://schemas.microsoft.com/office/drawing/2014/main" id="{902DE3F4-191E-B4E0-0E38-844CF207FF53}"/>
              </a:ext>
            </a:extLst>
          </p:cNvPr>
          <p:cNvSpPr>
            <a:spLocks noGrp="1"/>
          </p:cNvSpPr>
          <p:nvPr>
            <p:ph type="subTitle" idx="1"/>
          </p:nvPr>
        </p:nvSpPr>
        <p:spPr/>
        <p:txBody>
          <a:bodyPr>
            <a:normAutofit fontScale="92500" lnSpcReduction="20000"/>
          </a:bodyPr>
          <a:lstStyle/>
          <a:p>
            <a:r>
              <a:rPr lang="en-US" b="1" dirty="0"/>
              <a:t>Project Objective</a:t>
            </a:r>
            <a:r>
              <a:rPr lang="en-US" dirty="0"/>
              <a:t>: Build a SQL-driven Logistics analytics system to analyze delays, optimize routes, and enhance shipment efficiency by leveraging queries, aggregations. The project aims to answer key business questions, uncover inefficiencies, and recommend actionable improvements based on data analysis. </a:t>
            </a:r>
            <a:endParaRPr lang="en-IN" dirty="0"/>
          </a:p>
        </p:txBody>
      </p:sp>
    </p:spTree>
    <p:extLst>
      <p:ext uri="{BB962C8B-B14F-4D97-AF65-F5344CB8AC3E}">
        <p14:creationId xmlns:p14="http://schemas.microsoft.com/office/powerpoint/2010/main" val="2146395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3D336-FFEB-2707-EA41-5BF22F433E96}"/>
              </a:ext>
            </a:extLst>
          </p:cNvPr>
          <p:cNvSpPr>
            <a:spLocks noGrp="1"/>
          </p:cNvSpPr>
          <p:nvPr>
            <p:ph type="title"/>
          </p:nvPr>
        </p:nvSpPr>
        <p:spPr/>
        <p:txBody>
          <a:bodyPr/>
          <a:lstStyle/>
          <a:p>
            <a:r>
              <a:rPr lang="en-US" dirty="0"/>
              <a:t>Task 1: Data Cleaning &amp; Preparation</a:t>
            </a:r>
            <a:endParaRPr lang="en-IN" dirty="0"/>
          </a:p>
        </p:txBody>
      </p:sp>
      <p:sp>
        <p:nvSpPr>
          <p:cNvPr id="3" name="Content Placeholder 2">
            <a:extLst>
              <a:ext uri="{FF2B5EF4-FFF2-40B4-BE49-F238E27FC236}">
                <a16:creationId xmlns:a16="http://schemas.microsoft.com/office/drawing/2014/main" id="{F7C46F5F-1623-B2E9-2987-B9929A8CAB49}"/>
              </a:ext>
            </a:extLst>
          </p:cNvPr>
          <p:cNvSpPr>
            <a:spLocks noGrp="1"/>
          </p:cNvSpPr>
          <p:nvPr>
            <p:ph idx="1"/>
          </p:nvPr>
        </p:nvSpPr>
        <p:spPr/>
        <p:txBody>
          <a:bodyPr>
            <a:normAutofit fontScale="40000" lnSpcReduction="20000"/>
          </a:bodyPr>
          <a:lstStyle/>
          <a:p>
            <a:r>
              <a:rPr lang="en-US" b="1" dirty="0"/>
              <a:t>Task 1.1 - Identify and delete duplicate </a:t>
            </a:r>
            <a:r>
              <a:rPr lang="en-US" b="1" dirty="0" err="1"/>
              <a:t>Order_ID</a:t>
            </a:r>
            <a:r>
              <a:rPr lang="en-US" b="1" dirty="0"/>
              <a:t> records. </a:t>
            </a:r>
          </a:p>
          <a:p>
            <a:r>
              <a:rPr lang="en-US" b="1" dirty="0"/>
              <a:t>Query</a:t>
            </a:r>
            <a:r>
              <a:rPr lang="en-IN" dirty="0"/>
              <a:t> - </a:t>
            </a:r>
            <a:r>
              <a:rPr lang="en-US" dirty="0"/>
              <a:t>CREATE TABLE </a:t>
            </a:r>
            <a:r>
              <a:rPr lang="en-US" dirty="0" err="1"/>
              <a:t>orders_clean</a:t>
            </a:r>
            <a:r>
              <a:rPr lang="en-US" dirty="0"/>
              <a:t> LIKE </a:t>
            </a:r>
            <a:r>
              <a:rPr lang="en-US" dirty="0" err="1"/>
              <a:t>Orders;INSERT</a:t>
            </a:r>
            <a:r>
              <a:rPr lang="en-US" dirty="0"/>
              <a:t> INTO </a:t>
            </a:r>
            <a:r>
              <a:rPr lang="en-US" dirty="0" err="1"/>
              <a:t>orders_clean</a:t>
            </a:r>
            <a:r>
              <a:rPr lang="en-US" dirty="0"/>
              <a:t> SELECT * FROM Orders; select * from </a:t>
            </a:r>
            <a:r>
              <a:rPr lang="en-US" dirty="0" err="1"/>
              <a:t>orders_clean</a:t>
            </a:r>
            <a:r>
              <a:rPr lang="en-US" dirty="0"/>
              <a:t>; SELECT COUNT(*) AS </a:t>
            </a:r>
            <a:r>
              <a:rPr lang="en-US" dirty="0" err="1"/>
              <a:t>total_rows</a:t>
            </a:r>
            <a:r>
              <a:rPr lang="en-US" dirty="0"/>
              <a:t>, COUNT(DISTINCT </a:t>
            </a:r>
            <a:r>
              <a:rPr lang="en-US" dirty="0" err="1"/>
              <a:t>order_id</a:t>
            </a:r>
            <a:r>
              <a:rPr lang="en-US" dirty="0"/>
              <a:t>) AS </a:t>
            </a:r>
            <a:r>
              <a:rPr lang="en-US" dirty="0" err="1"/>
              <a:t>distinct_ordersFROM</a:t>
            </a:r>
            <a:r>
              <a:rPr lang="en-US" dirty="0"/>
              <a:t> </a:t>
            </a:r>
            <a:r>
              <a:rPr lang="en-US" dirty="0" err="1"/>
              <a:t>orders_clean;SELECT</a:t>
            </a:r>
            <a:r>
              <a:rPr lang="en-US" dirty="0"/>
              <a:t> COUNT(*) AS </a:t>
            </a:r>
            <a:r>
              <a:rPr lang="en-US" dirty="0" err="1"/>
              <a:t>order_ids_with_duplicatesFROM</a:t>
            </a:r>
            <a:r>
              <a:rPr lang="en-US" dirty="0"/>
              <a:t> (  SELECT </a:t>
            </a:r>
            <a:r>
              <a:rPr lang="en-US" dirty="0" err="1"/>
              <a:t>order_id</a:t>
            </a:r>
            <a:r>
              <a:rPr lang="en-US" dirty="0"/>
              <a:t>  FROM </a:t>
            </a:r>
            <a:r>
              <a:rPr lang="en-US" dirty="0" err="1"/>
              <a:t>Orders_clean</a:t>
            </a:r>
            <a:r>
              <a:rPr lang="en-US" dirty="0"/>
              <a:t>  GROUP BY </a:t>
            </a:r>
            <a:r>
              <a:rPr lang="en-US" dirty="0" err="1"/>
              <a:t>order_id</a:t>
            </a:r>
            <a:r>
              <a:rPr lang="en-US" dirty="0"/>
              <a:t>  HAVING COUNT(*) &gt; 1) t;</a:t>
            </a:r>
          </a:p>
          <a:p>
            <a:r>
              <a:rPr lang="en-US" b="1" dirty="0"/>
              <a:t>Task 1.2 - Replace null </a:t>
            </a:r>
            <a:r>
              <a:rPr lang="en-US" b="1" dirty="0" err="1"/>
              <a:t>Traffic_Delay_Min</a:t>
            </a:r>
            <a:r>
              <a:rPr lang="en-US" b="1" dirty="0"/>
              <a:t> with the average delay for that route.</a:t>
            </a:r>
          </a:p>
          <a:p>
            <a:r>
              <a:rPr lang="en-US" b="1" dirty="0"/>
              <a:t>Query </a:t>
            </a:r>
            <a:r>
              <a:rPr lang="en-US" dirty="0"/>
              <a:t>- select * from </a:t>
            </a:r>
            <a:r>
              <a:rPr lang="en-US" dirty="0" err="1"/>
              <a:t>routes;UPDATE</a:t>
            </a:r>
            <a:r>
              <a:rPr lang="en-US" dirty="0"/>
              <a:t> Routes AS </a:t>
            </a:r>
            <a:r>
              <a:rPr lang="en-US" dirty="0" err="1"/>
              <a:t>rJOIN</a:t>
            </a:r>
            <a:r>
              <a:rPr lang="en-US" dirty="0"/>
              <a:t> (    SELECT </a:t>
            </a:r>
            <a:r>
              <a:rPr lang="en-US" dirty="0" err="1"/>
              <a:t>route_id</a:t>
            </a:r>
            <a:r>
              <a:rPr lang="en-US" dirty="0"/>
              <a:t>, AVG(</a:t>
            </a:r>
            <a:r>
              <a:rPr lang="en-US" dirty="0" err="1"/>
              <a:t>traffic_delay_min</a:t>
            </a:r>
            <a:r>
              <a:rPr lang="en-US" dirty="0"/>
              <a:t>) AS </a:t>
            </a:r>
            <a:r>
              <a:rPr lang="en-US" dirty="0" err="1"/>
              <a:t>avg_traffic_delay</a:t>
            </a:r>
            <a:r>
              <a:rPr lang="en-US" dirty="0"/>
              <a:t>    FROM Routes    WHERE </a:t>
            </a:r>
            <a:r>
              <a:rPr lang="en-US" dirty="0" err="1"/>
              <a:t>traffic_delay_min</a:t>
            </a:r>
            <a:r>
              <a:rPr lang="en-US" dirty="0"/>
              <a:t> IS NOT NULL    GROUP BY </a:t>
            </a:r>
            <a:r>
              <a:rPr lang="en-US" dirty="0" err="1"/>
              <a:t>route_id</a:t>
            </a:r>
            <a:r>
              <a:rPr lang="en-US" dirty="0"/>
              <a:t>) AS </a:t>
            </a:r>
            <a:r>
              <a:rPr lang="en-US" dirty="0" err="1"/>
              <a:t>raON</a:t>
            </a:r>
            <a:r>
              <a:rPr lang="en-US" dirty="0"/>
              <a:t> </a:t>
            </a:r>
            <a:r>
              <a:rPr lang="en-US" dirty="0" err="1"/>
              <a:t>r.route_id</a:t>
            </a:r>
            <a:r>
              <a:rPr lang="en-US" dirty="0"/>
              <a:t> = </a:t>
            </a:r>
            <a:r>
              <a:rPr lang="en-US" dirty="0" err="1"/>
              <a:t>ra.route_idSET</a:t>
            </a:r>
            <a:r>
              <a:rPr lang="en-US" dirty="0"/>
              <a:t> </a:t>
            </a:r>
            <a:r>
              <a:rPr lang="en-US" dirty="0" err="1"/>
              <a:t>r.traffic_delay_min</a:t>
            </a:r>
            <a:r>
              <a:rPr lang="en-US" dirty="0"/>
              <a:t> = </a:t>
            </a:r>
            <a:r>
              <a:rPr lang="en-US" dirty="0" err="1"/>
              <a:t>ra.avg_traffic_delayWHERE</a:t>
            </a:r>
            <a:r>
              <a:rPr lang="en-US" dirty="0"/>
              <a:t> </a:t>
            </a:r>
            <a:r>
              <a:rPr lang="en-US" dirty="0" err="1"/>
              <a:t>r.traffic_delay_min</a:t>
            </a:r>
            <a:r>
              <a:rPr lang="en-US" dirty="0"/>
              <a:t> IS NULL  AND </a:t>
            </a:r>
            <a:r>
              <a:rPr lang="en-US" dirty="0" err="1"/>
              <a:t>r.route_id</a:t>
            </a:r>
            <a:r>
              <a:rPr lang="en-US" dirty="0"/>
              <a:t> IS NOT NULL;</a:t>
            </a:r>
          </a:p>
          <a:p>
            <a:r>
              <a:rPr lang="en-US" b="1" dirty="0"/>
              <a:t>Task 1.3 - Convert all date columns into YYYY-MM-DD format using SQL functions. </a:t>
            </a:r>
          </a:p>
          <a:p>
            <a:r>
              <a:rPr lang="en-US" b="1" dirty="0"/>
              <a:t>Query</a:t>
            </a:r>
            <a:r>
              <a:rPr lang="en-US" dirty="0"/>
              <a:t> - UPDATE </a:t>
            </a:r>
            <a:r>
              <a:rPr lang="en-US" dirty="0" err="1"/>
              <a:t>orders_cleanSET</a:t>
            </a:r>
            <a:r>
              <a:rPr lang="en-US" dirty="0"/>
              <a:t> </a:t>
            </a:r>
            <a:r>
              <a:rPr lang="en-US" dirty="0" err="1"/>
              <a:t>order_date</a:t>
            </a:r>
            <a:r>
              <a:rPr lang="en-US" dirty="0"/>
              <a:t> = STR_TO_DATE(</a:t>
            </a:r>
            <a:r>
              <a:rPr lang="en-US" dirty="0" err="1"/>
              <a:t>order_date</a:t>
            </a:r>
            <a:r>
              <a:rPr lang="en-US" dirty="0"/>
              <a:t>, '%Y-%m-%d')WHERE </a:t>
            </a:r>
            <a:r>
              <a:rPr lang="en-US" dirty="0" err="1"/>
              <a:t>order_date</a:t>
            </a:r>
            <a:r>
              <a:rPr lang="en-US" dirty="0"/>
              <a:t> IS NOT NULL  AND STR_TO_DATE(</a:t>
            </a:r>
            <a:r>
              <a:rPr lang="en-US" dirty="0" err="1"/>
              <a:t>order_date</a:t>
            </a:r>
            <a:r>
              <a:rPr lang="en-US" dirty="0"/>
              <a:t>, '%Y-%m-%d') IS NOT NULL;    UPDATE </a:t>
            </a:r>
            <a:r>
              <a:rPr lang="en-US" dirty="0" err="1"/>
              <a:t>orders_cleanSET</a:t>
            </a:r>
            <a:r>
              <a:rPr lang="en-US" dirty="0"/>
              <a:t> </a:t>
            </a:r>
            <a:r>
              <a:rPr lang="en-US" dirty="0" err="1"/>
              <a:t>expected_delivery_date</a:t>
            </a:r>
            <a:r>
              <a:rPr lang="en-US" dirty="0"/>
              <a:t> = STR_TO_DATE(</a:t>
            </a:r>
            <a:r>
              <a:rPr lang="en-US" dirty="0" err="1"/>
              <a:t>expected_delivery_date</a:t>
            </a:r>
            <a:r>
              <a:rPr lang="en-US" dirty="0"/>
              <a:t>, '%Y-%m-%d')WHERE </a:t>
            </a:r>
            <a:r>
              <a:rPr lang="en-US" dirty="0" err="1"/>
              <a:t>expected_delivery_date</a:t>
            </a:r>
            <a:r>
              <a:rPr lang="en-US" dirty="0"/>
              <a:t> IS NOT NULL  AND STR_TO_DATE(</a:t>
            </a:r>
            <a:r>
              <a:rPr lang="en-US" dirty="0" err="1"/>
              <a:t>expected_delivery_date</a:t>
            </a:r>
            <a:r>
              <a:rPr lang="en-US" dirty="0"/>
              <a:t>, '%Y-%m-%d') IS NOT NULL;    UPDATE </a:t>
            </a:r>
            <a:r>
              <a:rPr lang="en-US" dirty="0" err="1"/>
              <a:t>orders_cleanSET</a:t>
            </a:r>
            <a:r>
              <a:rPr lang="en-US" dirty="0"/>
              <a:t> </a:t>
            </a:r>
            <a:r>
              <a:rPr lang="en-US" dirty="0" err="1"/>
              <a:t>actual_delivery_date</a:t>
            </a:r>
            <a:r>
              <a:rPr lang="en-US" dirty="0"/>
              <a:t> = STR_TO_DATE(</a:t>
            </a:r>
            <a:r>
              <a:rPr lang="en-US" dirty="0" err="1"/>
              <a:t>actual_delivery_date</a:t>
            </a:r>
            <a:r>
              <a:rPr lang="en-US" dirty="0"/>
              <a:t>, '%Y-%m-%d')WHERE </a:t>
            </a:r>
            <a:r>
              <a:rPr lang="en-US" dirty="0" err="1"/>
              <a:t>actual_delivery_date</a:t>
            </a:r>
            <a:r>
              <a:rPr lang="en-US" dirty="0"/>
              <a:t> IS NOT NULL  AND STR_TO_DATE(</a:t>
            </a:r>
            <a:r>
              <a:rPr lang="en-US" dirty="0" err="1"/>
              <a:t>actual_delivery_date</a:t>
            </a:r>
            <a:r>
              <a:rPr lang="en-US" dirty="0"/>
              <a:t>, '%Y-%m-%d') IS NOT </a:t>
            </a:r>
            <a:r>
              <a:rPr lang="en-US" dirty="0" err="1"/>
              <a:t>NULL;select</a:t>
            </a:r>
            <a:r>
              <a:rPr lang="en-US" dirty="0"/>
              <a:t> * from </a:t>
            </a:r>
            <a:r>
              <a:rPr lang="en-US" dirty="0" err="1"/>
              <a:t>orders_clean</a:t>
            </a:r>
            <a:r>
              <a:rPr lang="en-US" dirty="0"/>
              <a:t>;</a:t>
            </a:r>
          </a:p>
          <a:p>
            <a:r>
              <a:rPr lang="en-US" b="1" dirty="0"/>
              <a:t>Task 1.4 - Ensure that no </a:t>
            </a:r>
            <a:r>
              <a:rPr lang="en-US" b="1" dirty="0" err="1"/>
              <a:t>Actual_Delivery_Date</a:t>
            </a:r>
            <a:r>
              <a:rPr lang="en-US" b="1" dirty="0"/>
              <a:t> is before </a:t>
            </a:r>
            <a:r>
              <a:rPr lang="en-US" b="1" dirty="0" err="1"/>
              <a:t>Order_Date</a:t>
            </a:r>
            <a:r>
              <a:rPr lang="en-US" b="1" dirty="0"/>
              <a:t> (flag such records). </a:t>
            </a:r>
          </a:p>
          <a:p>
            <a:r>
              <a:rPr lang="en-US" b="1" dirty="0"/>
              <a:t>Query</a:t>
            </a:r>
            <a:r>
              <a:rPr lang="en-US" dirty="0"/>
              <a:t> - ALTER TABLE </a:t>
            </a:r>
            <a:r>
              <a:rPr lang="en-US" dirty="0" err="1"/>
              <a:t>orders_clean</a:t>
            </a:r>
            <a:r>
              <a:rPr lang="en-US" dirty="0"/>
              <a:t> ADD COLUMN </a:t>
            </a:r>
            <a:r>
              <a:rPr lang="en-US" dirty="0" err="1"/>
              <a:t>delivery_date_flag</a:t>
            </a:r>
            <a:r>
              <a:rPr lang="en-US" dirty="0"/>
              <a:t> </a:t>
            </a:r>
            <a:r>
              <a:rPr lang="en-US" dirty="0" err="1"/>
              <a:t>boolean;UPDATE</a:t>
            </a:r>
            <a:r>
              <a:rPr lang="en-US" dirty="0"/>
              <a:t> </a:t>
            </a:r>
            <a:r>
              <a:rPr lang="en-US" dirty="0" err="1"/>
              <a:t>orders_cleanSET</a:t>
            </a:r>
            <a:r>
              <a:rPr lang="en-US" dirty="0"/>
              <a:t> </a:t>
            </a:r>
            <a:r>
              <a:rPr lang="en-US" dirty="0" err="1"/>
              <a:t>delivery_date_flag</a:t>
            </a:r>
            <a:r>
              <a:rPr lang="en-US" dirty="0"/>
              <a:t> = (</a:t>
            </a:r>
            <a:r>
              <a:rPr lang="en-US" dirty="0" err="1"/>
              <a:t>actual_delivery_date</a:t>
            </a:r>
            <a:r>
              <a:rPr lang="en-US" dirty="0"/>
              <a:t> &lt; </a:t>
            </a:r>
            <a:r>
              <a:rPr lang="en-US" dirty="0" err="1"/>
              <a:t>order_date</a:t>
            </a:r>
            <a:r>
              <a:rPr lang="en-US" dirty="0"/>
              <a:t>);SELECT * FROM </a:t>
            </a:r>
            <a:r>
              <a:rPr lang="en-US" dirty="0" err="1"/>
              <a:t>orders_clean</a:t>
            </a:r>
            <a:r>
              <a:rPr lang="en-US" dirty="0"/>
              <a:t>;</a:t>
            </a:r>
          </a:p>
        </p:txBody>
      </p:sp>
    </p:spTree>
    <p:extLst>
      <p:ext uri="{BB962C8B-B14F-4D97-AF65-F5344CB8AC3E}">
        <p14:creationId xmlns:p14="http://schemas.microsoft.com/office/powerpoint/2010/main" val="2735931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2C738-C4D2-8EC9-AC7D-7F5964711B5D}"/>
              </a:ext>
            </a:extLst>
          </p:cNvPr>
          <p:cNvSpPr>
            <a:spLocks noGrp="1"/>
          </p:cNvSpPr>
          <p:nvPr>
            <p:ph type="title"/>
          </p:nvPr>
        </p:nvSpPr>
        <p:spPr>
          <a:xfrm>
            <a:off x="838200" y="365125"/>
            <a:ext cx="10515600" cy="168275"/>
          </a:xfrm>
        </p:spPr>
        <p:txBody>
          <a:bodyPr>
            <a:normAutofit fontScale="90000"/>
          </a:bodyPr>
          <a:lstStyle/>
          <a:p>
            <a:r>
              <a:rPr lang="en-IN" dirty="0"/>
              <a:t>Resulting Table Task 1.1</a:t>
            </a:r>
          </a:p>
        </p:txBody>
      </p:sp>
      <p:graphicFrame>
        <p:nvGraphicFramePr>
          <p:cNvPr id="5" name="Object 4">
            <a:extLst>
              <a:ext uri="{FF2B5EF4-FFF2-40B4-BE49-F238E27FC236}">
                <a16:creationId xmlns:a16="http://schemas.microsoft.com/office/drawing/2014/main" id="{4A19DE1F-8A58-C632-8BD5-0BCFEA880559}"/>
              </a:ext>
            </a:extLst>
          </p:cNvPr>
          <p:cNvGraphicFramePr>
            <a:graphicFrameLocks noChangeAspect="1"/>
          </p:cNvGraphicFramePr>
          <p:nvPr>
            <p:extLst>
              <p:ext uri="{D42A27DB-BD31-4B8C-83A1-F6EECF244321}">
                <p14:modId xmlns:p14="http://schemas.microsoft.com/office/powerpoint/2010/main" val="806069523"/>
              </p:ext>
            </p:extLst>
          </p:nvPr>
        </p:nvGraphicFramePr>
        <p:xfrm>
          <a:off x="2111375" y="1122362"/>
          <a:ext cx="7969250" cy="5496151"/>
        </p:xfrm>
        <a:graphic>
          <a:graphicData uri="http://schemas.openxmlformats.org/presentationml/2006/ole">
            <mc:AlternateContent xmlns:mc="http://schemas.openxmlformats.org/markup-compatibility/2006">
              <mc:Choice xmlns:v="urn:schemas-microsoft-com:vml" Requires="v">
                <p:oleObj name="Worksheet" r:id="rId2" imgW="7969386" imgH="4610231" progId="Excel.Sheet.12">
                  <p:embed/>
                </p:oleObj>
              </mc:Choice>
              <mc:Fallback>
                <p:oleObj name="Worksheet" r:id="rId2" imgW="7969386" imgH="4610231" progId="Excel.Sheet.12">
                  <p:embed/>
                  <p:pic>
                    <p:nvPicPr>
                      <p:cNvPr id="5" name="Object 4">
                        <a:extLst>
                          <a:ext uri="{FF2B5EF4-FFF2-40B4-BE49-F238E27FC236}">
                            <a16:creationId xmlns:a16="http://schemas.microsoft.com/office/drawing/2014/main" id="{4A19DE1F-8A58-C632-8BD5-0BCFEA880559}"/>
                          </a:ext>
                        </a:extLst>
                      </p:cNvPr>
                      <p:cNvPicPr/>
                      <p:nvPr/>
                    </p:nvPicPr>
                    <p:blipFill>
                      <a:blip r:embed="rId3"/>
                      <a:stretch>
                        <a:fillRect/>
                      </a:stretch>
                    </p:blipFill>
                    <p:spPr>
                      <a:xfrm>
                        <a:off x="2111375" y="1122362"/>
                        <a:ext cx="7969250" cy="5496151"/>
                      </a:xfrm>
                      <a:prstGeom prst="rect">
                        <a:avLst/>
                      </a:prstGeom>
                    </p:spPr>
                  </p:pic>
                </p:oleObj>
              </mc:Fallback>
            </mc:AlternateContent>
          </a:graphicData>
        </a:graphic>
      </p:graphicFrame>
    </p:spTree>
    <p:extLst>
      <p:ext uri="{BB962C8B-B14F-4D97-AF65-F5344CB8AC3E}">
        <p14:creationId xmlns:p14="http://schemas.microsoft.com/office/powerpoint/2010/main" val="4292506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9182D-2205-EADE-95E3-863FB932A8B8}"/>
              </a:ext>
            </a:extLst>
          </p:cNvPr>
          <p:cNvSpPr>
            <a:spLocks noGrp="1"/>
          </p:cNvSpPr>
          <p:nvPr>
            <p:ph type="title"/>
          </p:nvPr>
        </p:nvSpPr>
        <p:spPr>
          <a:xfrm>
            <a:off x="838200" y="365126"/>
            <a:ext cx="10515600" cy="48532"/>
          </a:xfrm>
        </p:spPr>
        <p:txBody>
          <a:bodyPr>
            <a:normAutofit fontScale="90000"/>
          </a:bodyPr>
          <a:lstStyle/>
          <a:p>
            <a:r>
              <a:rPr lang="en-IN" dirty="0"/>
              <a:t>Resulting Table Task 1.2</a:t>
            </a:r>
          </a:p>
        </p:txBody>
      </p:sp>
      <p:graphicFrame>
        <p:nvGraphicFramePr>
          <p:cNvPr id="3" name="Object 2">
            <a:extLst>
              <a:ext uri="{FF2B5EF4-FFF2-40B4-BE49-F238E27FC236}">
                <a16:creationId xmlns:a16="http://schemas.microsoft.com/office/drawing/2014/main" id="{F43E3544-D9F3-7607-204C-49E345651DAB}"/>
              </a:ext>
            </a:extLst>
          </p:cNvPr>
          <p:cNvGraphicFramePr>
            <a:graphicFrameLocks noChangeAspect="1"/>
          </p:cNvGraphicFramePr>
          <p:nvPr>
            <p:extLst>
              <p:ext uri="{D42A27DB-BD31-4B8C-83A1-F6EECF244321}">
                <p14:modId xmlns:p14="http://schemas.microsoft.com/office/powerpoint/2010/main" val="4063246633"/>
              </p:ext>
            </p:extLst>
          </p:nvPr>
        </p:nvGraphicFramePr>
        <p:xfrm>
          <a:off x="1933575" y="1214438"/>
          <a:ext cx="5883275" cy="3321050"/>
        </p:xfrm>
        <a:graphic>
          <a:graphicData uri="http://schemas.openxmlformats.org/presentationml/2006/ole">
            <mc:AlternateContent xmlns:mc="http://schemas.openxmlformats.org/markup-compatibility/2006">
              <mc:Choice xmlns:v="urn:schemas-microsoft-com:vml" Requires="v">
                <p:oleObj name="Worksheet" r:id="rId2" imgW="5886487" imgH="3321006" progId="Excel.Sheet.12">
                  <p:embed/>
                </p:oleObj>
              </mc:Choice>
              <mc:Fallback>
                <p:oleObj name="Worksheet" r:id="rId2" imgW="5886487" imgH="3321006" progId="Excel.Sheet.12">
                  <p:embed/>
                  <p:pic>
                    <p:nvPicPr>
                      <p:cNvPr id="3" name="Object 2">
                        <a:extLst>
                          <a:ext uri="{FF2B5EF4-FFF2-40B4-BE49-F238E27FC236}">
                            <a16:creationId xmlns:a16="http://schemas.microsoft.com/office/drawing/2014/main" id="{F43E3544-D9F3-7607-204C-49E345651DAB}"/>
                          </a:ext>
                        </a:extLst>
                      </p:cNvPr>
                      <p:cNvPicPr/>
                      <p:nvPr/>
                    </p:nvPicPr>
                    <p:blipFill>
                      <a:blip r:embed="rId3"/>
                      <a:stretch>
                        <a:fillRect/>
                      </a:stretch>
                    </p:blipFill>
                    <p:spPr>
                      <a:xfrm>
                        <a:off x="1933575" y="1214438"/>
                        <a:ext cx="5883275" cy="3321050"/>
                      </a:xfrm>
                      <a:prstGeom prst="rect">
                        <a:avLst/>
                      </a:prstGeom>
                    </p:spPr>
                  </p:pic>
                </p:oleObj>
              </mc:Fallback>
            </mc:AlternateContent>
          </a:graphicData>
        </a:graphic>
      </p:graphicFrame>
    </p:spTree>
    <p:extLst>
      <p:ext uri="{BB962C8B-B14F-4D97-AF65-F5344CB8AC3E}">
        <p14:creationId xmlns:p14="http://schemas.microsoft.com/office/powerpoint/2010/main" val="1400103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8BF5A-1034-F7C9-BB0C-F25EBBBB03F9}"/>
              </a:ext>
            </a:extLst>
          </p:cNvPr>
          <p:cNvSpPr>
            <a:spLocks noGrp="1"/>
          </p:cNvSpPr>
          <p:nvPr>
            <p:ph type="title"/>
          </p:nvPr>
        </p:nvSpPr>
        <p:spPr>
          <a:xfrm>
            <a:off x="838200" y="365125"/>
            <a:ext cx="10515600" cy="45719"/>
          </a:xfrm>
        </p:spPr>
        <p:txBody>
          <a:bodyPr>
            <a:normAutofit fontScale="90000"/>
          </a:bodyPr>
          <a:lstStyle/>
          <a:p>
            <a:r>
              <a:rPr lang="en-IN" dirty="0"/>
              <a:t>Resulting Table Task 1.3</a:t>
            </a:r>
          </a:p>
        </p:txBody>
      </p:sp>
      <p:graphicFrame>
        <p:nvGraphicFramePr>
          <p:cNvPr id="4" name="Object 3">
            <a:extLst>
              <a:ext uri="{FF2B5EF4-FFF2-40B4-BE49-F238E27FC236}">
                <a16:creationId xmlns:a16="http://schemas.microsoft.com/office/drawing/2014/main" id="{DE033925-ECBD-7AEB-3A0B-612C2A91D768}"/>
              </a:ext>
            </a:extLst>
          </p:cNvPr>
          <p:cNvGraphicFramePr>
            <a:graphicFrameLocks noChangeAspect="1"/>
          </p:cNvGraphicFramePr>
          <p:nvPr>
            <p:extLst>
              <p:ext uri="{D42A27DB-BD31-4B8C-83A1-F6EECF244321}">
                <p14:modId xmlns:p14="http://schemas.microsoft.com/office/powerpoint/2010/main" val="2208042558"/>
              </p:ext>
            </p:extLst>
          </p:nvPr>
        </p:nvGraphicFramePr>
        <p:xfrm>
          <a:off x="2111375" y="1122363"/>
          <a:ext cx="7969250" cy="4610100"/>
        </p:xfrm>
        <a:graphic>
          <a:graphicData uri="http://schemas.openxmlformats.org/presentationml/2006/ole">
            <mc:AlternateContent xmlns:mc="http://schemas.openxmlformats.org/markup-compatibility/2006">
              <mc:Choice xmlns:v="urn:schemas-microsoft-com:vml" Requires="v">
                <p:oleObj name="Worksheet" r:id="rId2" imgW="7969386" imgH="4610231" progId="Excel.Sheet.12">
                  <p:embed/>
                </p:oleObj>
              </mc:Choice>
              <mc:Fallback>
                <p:oleObj name="Worksheet" r:id="rId2" imgW="7969386" imgH="4610231" progId="Excel.Sheet.12">
                  <p:embed/>
                  <p:pic>
                    <p:nvPicPr>
                      <p:cNvPr id="4" name="Object 3">
                        <a:extLst>
                          <a:ext uri="{FF2B5EF4-FFF2-40B4-BE49-F238E27FC236}">
                            <a16:creationId xmlns:a16="http://schemas.microsoft.com/office/drawing/2014/main" id="{DE033925-ECBD-7AEB-3A0B-612C2A91D768}"/>
                          </a:ext>
                        </a:extLst>
                      </p:cNvPr>
                      <p:cNvPicPr/>
                      <p:nvPr/>
                    </p:nvPicPr>
                    <p:blipFill>
                      <a:blip r:embed="rId3"/>
                      <a:stretch>
                        <a:fillRect/>
                      </a:stretch>
                    </p:blipFill>
                    <p:spPr>
                      <a:xfrm>
                        <a:off x="2111375" y="1122363"/>
                        <a:ext cx="7969250" cy="4610100"/>
                      </a:xfrm>
                      <a:prstGeom prst="rect">
                        <a:avLst/>
                      </a:prstGeom>
                    </p:spPr>
                  </p:pic>
                </p:oleObj>
              </mc:Fallback>
            </mc:AlternateContent>
          </a:graphicData>
        </a:graphic>
      </p:graphicFrame>
    </p:spTree>
    <p:extLst>
      <p:ext uri="{BB962C8B-B14F-4D97-AF65-F5344CB8AC3E}">
        <p14:creationId xmlns:p14="http://schemas.microsoft.com/office/powerpoint/2010/main" val="1391706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1A961-5140-54C8-22F6-AEA0EB246F21}"/>
              </a:ext>
            </a:extLst>
          </p:cNvPr>
          <p:cNvSpPr>
            <a:spLocks noGrp="1"/>
          </p:cNvSpPr>
          <p:nvPr>
            <p:ph type="title"/>
          </p:nvPr>
        </p:nvSpPr>
        <p:spPr>
          <a:xfrm>
            <a:off x="838200" y="365125"/>
            <a:ext cx="10515600" cy="45719"/>
          </a:xfrm>
        </p:spPr>
        <p:txBody>
          <a:bodyPr>
            <a:normAutofit fontScale="90000"/>
          </a:bodyPr>
          <a:lstStyle/>
          <a:p>
            <a:r>
              <a:rPr lang="en-IN" dirty="0"/>
              <a:t>Resulting Table Task 1.4</a:t>
            </a:r>
          </a:p>
        </p:txBody>
      </p:sp>
      <p:graphicFrame>
        <p:nvGraphicFramePr>
          <p:cNvPr id="3" name="Object 2">
            <a:extLst>
              <a:ext uri="{FF2B5EF4-FFF2-40B4-BE49-F238E27FC236}">
                <a16:creationId xmlns:a16="http://schemas.microsoft.com/office/drawing/2014/main" id="{A4558BCD-FFFA-DA91-B21E-BF0D1C763280}"/>
              </a:ext>
            </a:extLst>
          </p:cNvPr>
          <p:cNvGraphicFramePr>
            <a:graphicFrameLocks noChangeAspect="1"/>
          </p:cNvGraphicFramePr>
          <p:nvPr>
            <p:extLst>
              <p:ext uri="{D42A27DB-BD31-4B8C-83A1-F6EECF244321}">
                <p14:modId xmlns:p14="http://schemas.microsoft.com/office/powerpoint/2010/main" val="4116176785"/>
              </p:ext>
            </p:extLst>
          </p:nvPr>
        </p:nvGraphicFramePr>
        <p:xfrm>
          <a:off x="1587500" y="1122363"/>
          <a:ext cx="9017000" cy="4610100"/>
        </p:xfrm>
        <a:graphic>
          <a:graphicData uri="http://schemas.openxmlformats.org/presentationml/2006/ole">
            <mc:AlternateContent xmlns:mc="http://schemas.openxmlformats.org/markup-compatibility/2006">
              <mc:Choice xmlns:v="urn:schemas-microsoft-com:vml" Requires="v">
                <p:oleObj name="Worksheet" r:id="rId2" imgW="9016951" imgH="4610231" progId="Excel.Sheet.12">
                  <p:embed/>
                </p:oleObj>
              </mc:Choice>
              <mc:Fallback>
                <p:oleObj name="Worksheet" r:id="rId2" imgW="9016951" imgH="4610231" progId="Excel.Sheet.12">
                  <p:embed/>
                  <p:pic>
                    <p:nvPicPr>
                      <p:cNvPr id="3" name="Object 2">
                        <a:extLst>
                          <a:ext uri="{FF2B5EF4-FFF2-40B4-BE49-F238E27FC236}">
                            <a16:creationId xmlns:a16="http://schemas.microsoft.com/office/drawing/2014/main" id="{A4558BCD-FFFA-DA91-B21E-BF0D1C763280}"/>
                          </a:ext>
                        </a:extLst>
                      </p:cNvPr>
                      <p:cNvPicPr/>
                      <p:nvPr/>
                    </p:nvPicPr>
                    <p:blipFill>
                      <a:blip r:embed="rId3"/>
                      <a:stretch>
                        <a:fillRect/>
                      </a:stretch>
                    </p:blipFill>
                    <p:spPr>
                      <a:xfrm>
                        <a:off x="1587500" y="1122363"/>
                        <a:ext cx="9017000" cy="4610100"/>
                      </a:xfrm>
                      <a:prstGeom prst="rect">
                        <a:avLst/>
                      </a:prstGeom>
                    </p:spPr>
                  </p:pic>
                </p:oleObj>
              </mc:Fallback>
            </mc:AlternateContent>
          </a:graphicData>
        </a:graphic>
      </p:graphicFrame>
    </p:spTree>
    <p:extLst>
      <p:ext uri="{BB962C8B-B14F-4D97-AF65-F5344CB8AC3E}">
        <p14:creationId xmlns:p14="http://schemas.microsoft.com/office/powerpoint/2010/main" val="20301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5650-DCDD-33FD-FD9E-204BAEF52F6F}"/>
              </a:ext>
            </a:extLst>
          </p:cNvPr>
          <p:cNvSpPr>
            <a:spLocks noGrp="1"/>
          </p:cNvSpPr>
          <p:nvPr>
            <p:ph type="ctrTitle"/>
          </p:nvPr>
        </p:nvSpPr>
        <p:spPr>
          <a:xfrm>
            <a:off x="1524000" y="402770"/>
            <a:ext cx="9144000" cy="940934"/>
          </a:xfrm>
        </p:spPr>
        <p:txBody>
          <a:bodyPr>
            <a:normAutofit/>
          </a:bodyPr>
          <a:lstStyle/>
          <a:p>
            <a:pPr algn="l"/>
            <a:r>
              <a:rPr lang="en-US" sz="4400" dirty="0"/>
              <a:t>Task 2: Delivery Delay Analysis</a:t>
            </a:r>
            <a:endParaRPr lang="en-IN" sz="4400" dirty="0"/>
          </a:p>
        </p:txBody>
      </p:sp>
      <p:sp>
        <p:nvSpPr>
          <p:cNvPr id="3" name="Subtitle 2">
            <a:extLst>
              <a:ext uri="{FF2B5EF4-FFF2-40B4-BE49-F238E27FC236}">
                <a16:creationId xmlns:a16="http://schemas.microsoft.com/office/drawing/2014/main" id="{C4121264-7E24-87D9-1F3D-B4935989864F}"/>
              </a:ext>
            </a:extLst>
          </p:cNvPr>
          <p:cNvSpPr>
            <a:spLocks noGrp="1"/>
          </p:cNvSpPr>
          <p:nvPr>
            <p:ph type="subTitle" idx="1"/>
          </p:nvPr>
        </p:nvSpPr>
        <p:spPr>
          <a:xfrm>
            <a:off x="1524000" y="1468433"/>
            <a:ext cx="9144000" cy="3255962"/>
          </a:xfrm>
        </p:spPr>
        <p:txBody>
          <a:bodyPr>
            <a:normAutofit fontScale="62500" lnSpcReduction="20000"/>
          </a:bodyPr>
          <a:lstStyle/>
          <a:p>
            <a:pPr marL="342900" indent="-342900" algn="l">
              <a:buFont typeface="Arial" panose="020B0604020202020204" pitchFamily="34" charset="0"/>
              <a:buChar char="•"/>
            </a:pPr>
            <a:r>
              <a:rPr lang="en-IN" b="1" dirty="0"/>
              <a:t>Task 2.1 - </a:t>
            </a:r>
            <a:r>
              <a:rPr lang="en-US" b="1" dirty="0"/>
              <a:t>Calculate delivery delay (in days) for each order.</a:t>
            </a:r>
          </a:p>
          <a:p>
            <a:pPr marL="342900" indent="-342900" algn="l">
              <a:buFont typeface="Arial" panose="020B0604020202020204" pitchFamily="34" charset="0"/>
              <a:buChar char="•"/>
            </a:pPr>
            <a:r>
              <a:rPr lang="en-US" b="1" dirty="0"/>
              <a:t>Query</a:t>
            </a:r>
            <a:r>
              <a:rPr lang="en-US" dirty="0"/>
              <a:t> - ALTER TABLE </a:t>
            </a:r>
            <a:r>
              <a:rPr lang="en-US" dirty="0" err="1"/>
              <a:t>orders_cleanADD</a:t>
            </a:r>
            <a:r>
              <a:rPr lang="en-US" dirty="0"/>
              <a:t> COLUMN </a:t>
            </a:r>
            <a:r>
              <a:rPr lang="en-US" dirty="0" err="1"/>
              <a:t>delivery_delay_days</a:t>
            </a:r>
            <a:r>
              <a:rPr lang="en-US" dirty="0"/>
              <a:t> INT NULL;UPDATE </a:t>
            </a:r>
            <a:r>
              <a:rPr lang="en-US" dirty="0" err="1"/>
              <a:t>orders_cleanSET</a:t>
            </a:r>
            <a:r>
              <a:rPr lang="en-US" dirty="0"/>
              <a:t> </a:t>
            </a:r>
            <a:r>
              <a:rPr lang="en-US" dirty="0" err="1"/>
              <a:t>delivery_delay_days</a:t>
            </a:r>
            <a:r>
              <a:rPr lang="en-US" dirty="0"/>
              <a:t> = DATEDIFF(</a:t>
            </a:r>
            <a:r>
              <a:rPr lang="en-US" dirty="0" err="1"/>
              <a:t>actual_delivery_date</a:t>
            </a:r>
            <a:r>
              <a:rPr lang="en-US" dirty="0"/>
              <a:t>, </a:t>
            </a:r>
            <a:r>
              <a:rPr lang="en-US" dirty="0" err="1"/>
              <a:t>expected_delivery_date</a:t>
            </a:r>
            <a:r>
              <a:rPr lang="en-US" dirty="0"/>
              <a:t>)WHERE </a:t>
            </a:r>
            <a:r>
              <a:rPr lang="en-US" dirty="0" err="1"/>
              <a:t>actual_delivery_date</a:t>
            </a:r>
            <a:r>
              <a:rPr lang="en-US" dirty="0"/>
              <a:t> IS NOT NULL  AND </a:t>
            </a:r>
            <a:r>
              <a:rPr lang="en-US" dirty="0" err="1"/>
              <a:t>expected_delivery_date</a:t>
            </a:r>
            <a:r>
              <a:rPr lang="en-US" dirty="0"/>
              <a:t> IS NOT NULL;    select </a:t>
            </a:r>
            <a:r>
              <a:rPr lang="en-US" dirty="0" err="1"/>
              <a:t>Order_ID</a:t>
            </a:r>
            <a:r>
              <a:rPr lang="en-US" dirty="0"/>
              <a:t>, </a:t>
            </a:r>
            <a:r>
              <a:rPr lang="en-US" dirty="0" err="1"/>
              <a:t>Order_Date</a:t>
            </a:r>
            <a:r>
              <a:rPr lang="en-US" dirty="0"/>
              <a:t>, </a:t>
            </a:r>
            <a:r>
              <a:rPr lang="en-US" dirty="0" err="1"/>
              <a:t>Expected_Delivery_Date</a:t>
            </a:r>
            <a:r>
              <a:rPr lang="en-US" dirty="0"/>
              <a:t>, </a:t>
            </a:r>
            <a:r>
              <a:rPr lang="en-US" dirty="0" err="1"/>
              <a:t>Actual_Delivery_Date</a:t>
            </a:r>
            <a:r>
              <a:rPr lang="en-US" dirty="0"/>
              <a:t>,   </a:t>
            </a:r>
            <a:r>
              <a:rPr lang="en-US" dirty="0" err="1"/>
              <a:t>delivery_delay_days</a:t>
            </a:r>
            <a:r>
              <a:rPr lang="en-US" dirty="0"/>
              <a:t> from </a:t>
            </a:r>
            <a:r>
              <a:rPr lang="en-US" dirty="0" err="1"/>
              <a:t>orders_clean</a:t>
            </a:r>
            <a:r>
              <a:rPr lang="en-US" dirty="0"/>
              <a:t>;</a:t>
            </a:r>
          </a:p>
          <a:p>
            <a:pPr marL="342900" indent="-342900" algn="l">
              <a:buFont typeface="Arial" panose="020B0604020202020204" pitchFamily="34" charset="0"/>
              <a:buChar char="•"/>
            </a:pPr>
            <a:r>
              <a:rPr lang="en-US" b="1" dirty="0"/>
              <a:t>Task 2.2 – Find Top 10 delayed routes based on average delay days. </a:t>
            </a:r>
          </a:p>
          <a:p>
            <a:pPr marL="342900" indent="-342900" algn="l">
              <a:buFont typeface="Arial" panose="020B0604020202020204" pitchFamily="34" charset="0"/>
              <a:buChar char="•"/>
            </a:pPr>
            <a:r>
              <a:rPr lang="en-US" b="1" dirty="0"/>
              <a:t>Query</a:t>
            </a:r>
            <a:r>
              <a:rPr lang="en-US" dirty="0"/>
              <a:t> - SELECT </a:t>
            </a:r>
            <a:r>
              <a:rPr lang="en-US" dirty="0" err="1"/>
              <a:t>r.route_id</a:t>
            </a:r>
            <a:r>
              <a:rPr lang="en-US" dirty="0"/>
              <a:t>, </a:t>
            </a:r>
            <a:r>
              <a:rPr lang="en-US" dirty="0" err="1"/>
              <a:t>r.start_location</a:t>
            </a:r>
            <a:r>
              <a:rPr lang="en-US" dirty="0"/>
              <a:t>, </a:t>
            </a:r>
            <a:r>
              <a:rPr lang="en-US" dirty="0" err="1"/>
              <a:t>r.end_location</a:t>
            </a:r>
            <a:r>
              <a:rPr lang="en-US" dirty="0"/>
              <a:t>,       ROUND(AVG(</a:t>
            </a:r>
            <a:r>
              <a:rPr lang="en-US" dirty="0" err="1"/>
              <a:t>o.delivery_delay_days</a:t>
            </a:r>
            <a:r>
              <a:rPr lang="en-US" dirty="0"/>
              <a:t>),2) AS </a:t>
            </a:r>
            <a:r>
              <a:rPr lang="en-US" dirty="0" err="1"/>
              <a:t>avg_delay_days</a:t>
            </a:r>
            <a:r>
              <a:rPr lang="en-US" dirty="0"/>
              <a:t>,       COUNT(*) AS </a:t>
            </a:r>
            <a:r>
              <a:rPr lang="en-US" dirty="0" err="1"/>
              <a:t>orders_countFROM</a:t>
            </a:r>
            <a:r>
              <a:rPr lang="en-US" dirty="0"/>
              <a:t> </a:t>
            </a:r>
            <a:r>
              <a:rPr lang="en-US" dirty="0" err="1"/>
              <a:t>orders_clean</a:t>
            </a:r>
            <a:r>
              <a:rPr lang="en-US" dirty="0"/>
              <a:t> </a:t>
            </a:r>
            <a:r>
              <a:rPr lang="en-US" dirty="0" err="1"/>
              <a:t>oJOIN</a:t>
            </a:r>
            <a:r>
              <a:rPr lang="en-US" dirty="0"/>
              <a:t> Routes r ON </a:t>
            </a:r>
            <a:r>
              <a:rPr lang="en-US" dirty="0" err="1"/>
              <a:t>o.route_id</a:t>
            </a:r>
            <a:r>
              <a:rPr lang="en-US" dirty="0"/>
              <a:t> = </a:t>
            </a:r>
            <a:r>
              <a:rPr lang="en-US" dirty="0" err="1"/>
              <a:t>r.route_idGROUP</a:t>
            </a:r>
            <a:r>
              <a:rPr lang="en-US" dirty="0"/>
              <a:t> BY </a:t>
            </a:r>
            <a:r>
              <a:rPr lang="en-US" dirty="0" err="1"/>
              <a:t>r.route_id</a:t>
            </a:r>
            <a:r>
              <a:rPr lang="en-US" dirty="0"/>
              <a:t>, </a:t>
            </a:r>
            <a:r>
              <a:rPr lang="en-US" dirty="0" err="1"/>
              <a:t>r.start_location</a:t>
            </a:r>
            <a:r>
              <a:rPr lang="en-US" dirty="0"/>
              <a:t>, </a:t>
            </a:r>
            <a:r>
              <a:rPr lang="en-US" dirty="0" err="1"/>
              <a:t>r.end_locationORDER</a:t>
            </a:r>
            <a:r>
              <a:rPr lang="en-US" dirty="0"/>
              <a:t> BY </a:t>
            </a:r>
            <a:r>
              <a:rPr lang="en-US" dirty="0" err="1"/>
              <a:t>avg_delay_days</a:t>
            </a:r>
            <a:r>
              <a:rPr lang="en-US" dirty="0"/>
              <a:t> DESCLIMIT 10;</a:t>
            </a:r>
          </a:p>
          <a:p>
            <a:pPr marL="342900" indent="-342900" algn="l">
              <a:buFont typeface="Arial" panose="020B0604020202020204" pitchFamily="34" charset="0"/>
              <a:buChar char="•"/>
            </a:pPr>
            <a:r>
              <a:rPr lang="en-US" b="1" dirty="0"/>
              <a:t>Task 2.3 – Use window functions to rank all orders by delay within each warehouse. </a:t>
            </a:r>
          </a:p>
          <a:p>
            <a:pPr marL="342900" indent="-342900" algn="l">
              <a:buFont typeface="Arial" panose="020B0604020202020204" pitchFamily="34" charset="0"/>
              <a:buChar char="•"/>
            </a:pPr>
            <a:r>
              <a:rPr lang="en-US" b="1" dirty="0"/>
              <a:t>Query</a:t>
            </a:r>
            <a:r>
              <a:rPr lang="en-US" dirty="0"/>
              <a:t> - SELECT o.*,        ROW_NUMBER() OVER (PARTITION BY </a:t>
            </a:r>
            <a:r>
              <a:rPr lang="en-US" dirty="0" err="1"/>
              <a:t>warehouse_id</a:t>
            </a:r>
            <a:r>
              <a:rPr lang="en-US" dirty="0"/>
              <a:t> ORDER BY </a:t>
            </a:r>
            <a:r>
              <a:rPr lang="en-US" dirty="0" err="1"/>
              <a:t>delivery_delay_days</a:t>
            </a:r>
            <a:r>
              <a:rPr lang="en-US" dirty="0"/>
              <a:t> DESC)       AS </a:t>
            </a:r>
            <a:r>
              <a:rPr lang="en-US" dirty="0" err="1"/>
              <a:t>delay_rank_in_warehouseFROM</a:t>
            </a:r>
            <a:r>
              <a:rPr lang="en-US" dirty="0"/>
              <a:t> </a:t>
            </a:r>
            <a:r>
              <a:rPr lang="en-US" dirty="0" err="1"/>
              <a:t>orders_clean</a:t>
            </a:r>
            <a:r>
              <a:rPr lang="en-US" dirty="0"/>
              <a:t> o;</a:t>
            </a:r>
          </a:p>
          <a:p>
            <a:endParaRPr lang="en-IN" dirty="0"/>
          </a:p>
          <a:p>
            <a:endParaRPr lang="en-IN" dirty="0"/>
          </a:p>
        </p:txBody>
      </p:sp>
    </p:spTree>
    <p:extLst>
      <p:ext uri="{BB962C8B-B14F-4D97-AF65-F5344CB8AC3E}">
        <p14:creationId xmlns:p14="http://schemas.microsoft.com/office/powerpoint/2010/main" val="386744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2ABCF-8B29-956F-ED06-E70B734E435F}"/>
              </a:ext>
            </a:extLst>
          </p:cNvPr>
          <p:cNvSpPr>
            <a:spLocks noGrp="1"/>
          </p:cNvSpPr>
          <p:nvPr>
            <p:ph type="title"/>
          </p:nvPr>
        </p:nvSpPr>
        <p:spPr>
          <a:xfrm>
            <a:off x="838200" y="365126"/>
            <a:ext cx="10515600" cy="113846"/>
          </a:xfrm>
        </p:spPr>
        <p:txBody>
          <a:bodyPr>
            <a:normAutofit fontScale="90000"/>
          </a:bodyPr>
          <a:lstStyle/>
          <a:p>
            <a:r>
              <a:rPr lang="en-IN" dirty="0"/>
              <a:t>Resulting Table Task 2.1</a:t>
            </a:r>
          </a:p>
        </p:txBody>
      </p:sp>
      <p:graphicFrame>
        <p:nvGraphicFramePr>
          <p:cNvPr id="3" name="Object 2">
            <a:extLst>
              <a:ext uri="{FF2B5EF4-FFF2-40B4-BE49-F238E27FC236}">
                <a16:creationId xmlns:a16="http://schemas.microsoft.com/office/drawing/2014/main" id="{6155602F-52AE-698C-5B1F-E40FDB146BFE}"/>
              </a:ext>
            </a:extLst>
          </p:cNvPr>
          <p:cNvGraphicFramePr>
            <a:graphicFrameLocks noChangeAspect="1"/>
          </p:cNvGraphicFramePr>
          <p:nvPr>
            <p:extLst>
              <p:ext uri="{D42A27DB-BD31-4B8C-83A1-F6EECF244321}">
                <p14:modId xmlns:p14="http://schemas.microsoft.com/office/powerpoint/2010/main" val="641652279"/>
              </p:ext>
            </p:extLst>
          </p:nvPr>
        </p:nvGraphicFramePr>
        <p:xfrm>
          <a:off x="3251200" y="1122363"/>
          <a:ext cx="5689600" cy="4610100"/>
        </p:xfrm>
        <a:graphic>
          <a:graphicData uri="http://schemas.openxmlformats.org/presentationml/2006/ole">
            <mc:AlternateContent xmlns:mc="http://schemas.openxmlformats.org/markup-compatibility/2006">
              <mc:Choice xmlns:v="urn:schemas-microsoft-com:vml" Requires="v">
                <p:oleObj name="Worksheet" r:id="rId2" imgW="5689600" imgH="4610231" progId="Excel.Sheet.12">
                  <p:embed/>
                </p:oleObj>
              </mc:Choice>
              <mc:Fallback>
                <p:oleObj name="Worksheet" r:id="rId2" imgW="5689600" imgH="4610231" progId="Excel.Sheet.12">
                  <p:embed/>
                  <p:pic>
                    <p:nvPicPr>
                      <p:cNvPr id="3" name="Object 2">
                        <a:extLst>
                          <a:ext uri="{FF2B5EF4-FFF2-40B4-BE49-F238E27FC236}">
                            <a16:creationId xmlns:a16="http://schemas.microsoft.com/office/drawing/2014/main" id="{6155602F-52AE-698C-5B1F-E40FDB146BFE}"/>
                          </a:ext>
                        </a:extLst>
                      </p:cNvPr>
                      <p:cNvPicPr/>
                      <p:nvPr/>
                    </p:nvPicPr>
                    <p:blipFill>
                      <a:blip r:embed="rId3"/>
                      <a:stretch>
                        <a:fillRect/>
                      </a:stretch>
                    </p:blipFill>
                    <p:spPr>
                      <a:xfrm>
                        <a:off x="3251200" y="1122363"/>
                        <a:ext cx="5689600" cy="4610100"/>
                      </a:xfrm>
                      <a:prstGeom prst="rect">
                        <a:avLst/>
                      </a:prstGeom>
                    </p:spPr>
                  </p:pic>
                </p:oleObj>
              </mc:Fallback>
            </mc:AlternateContent>
          </a:graphicData>
        </a:graphic>
      </p:graphicFrame>
    </p:spTree>
    <p:extLst>
      <p:ext uri="{BB962C8B-B14F-4D97-AF65-F5344CB8AC3E}">
        <p14:creationId xmlns:p14="http://schemas.microsoft.com/office/powerpoint/2010/main" val="1034803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ECAE3-3DE5-41EC-A8F3-C2C73638A2B1}"/>
              </a:ext>
            </a:extLst>
          </p:cNvPr>
          <p:cNvSpPr>
            <a:spLocks noGrp="1"/>
          </p:cNvSpPr>
          <p:nvPr>
            <p:ph type="title"/>
          </p:nvPr>
        </p:nvSpPr>
        <p:spPr>
          <a:xfrm>
            <a:off x="838200" y="365125"/>
            <a:ext cx="10515600" cy="45719"/>
          </a:xfrm>
        </p:spPr>
        <p:txBody>
          <a:bodyPr>
            <a:normAutofit fontScale="90000"/>
          </a:bodyPr>
          <a:lstStyle/>
          <a:p>
            <a:r>
              <a:rPr lang="en-IN" dirty="0"/>
              <a:t>Resulting Table Task 2.2</a:t>
            </a:r>
          </a:p>
        </p:txBody>
      </p:sp>
      <p:graphicFrame>
        <p:nvGraphicFramePr>
          <p:cNvPr id="3" name="Object 2">
            <a:extLst>
              <a:ext uri="{FF2B5EF4-FFF2-40B4-BE49-F238E27FC236}">
                <a16:creationId xmlns:a16="http://schemas.microsoft.com/office/drawing/2014/main" id="{FC537600-143C-80F0-B8D1-CF6E56F4A7C2}"/>
              </a:ext>
            </a:extLst>
          </p:cNvPr>
          <p:cNvGraphicFramePr>
            <a:graphicFrameLocks noChangeAspect="1"/>
          </p:cNvGraphicFramePr>
          <p:nvPr>
            <p:extLst>
              <p:ext uri="{D42A27DB-BD31-4B8C-83A1-F6EECF244321}">
                <p14:modId xmlns:p14="http://schemas.microsoft.com/office/powerpoint/2010/main" val="1647628346"/>
              </p:ext>
            </p:extLst>
          </p:nvPr>
        </p:nvGraphicFramePr>
        <p:xfrm>
          <a:off x="4060825" y="2503488"/>
          <a:ext cx="4070350" cy="1847850"/>
        </p:xfrm>
        <a:graphic>
          <a:graphicData uri="http://schemas.openxmlformats.org/presentationml/2006/ole">
            <mc:AlternateContent xmlns:mc="http://schemas.openxmlformats.org/markup-compatibility/2006">
              <mc:Choice xmlns:v="urn:schemas-microsoft-com:vml" Requires="v">
                <p:oleObj name="Worksheet" r:id="rId2" imgW="4070313" imgH="1847719" progId="Excel.Sheet.12">
                  <p:embed/>
                </p:oleObj>
              </mc:Choice>
              <mc:Fallback>
                <p:oleObj name="Worksheet" r:id="rId2" imgW="4070313" imgH="1847719" progId="Excel.Sheet.12">
                  <p:embed/>
                  <p:pic>
                    <p:nvPicPr>
                      <p:cNvPr id="3" name="Object 2">
                        <a:extLst>
                          <a:ext uri="{FF2B5EF4-FFF2-40B4-BE49-F238E27FC236}">
                            <a16:creationId xmlns:a16="http://schemas.microsoft.com/office/drawing/2014/main" id="{FC537600-143C-80F0-B8D1-CF6E56F4A7C2}"/>
                          </a:ext>
                        </a:extLst>
                      </p:cNvPr>
                      <p:cNvPicPr/>
                      <p:nvPr/>
                    </p:nvPicPr>
                    <p:blipFill>
                      <a:blip r:embed="rId3"/>
                      <a:stretch>
                        <a:fillRect/>
                      </a:stretch>
                    </p:blipFill>
                    <p:spPr>
                      <a:xfrm>
                        <a:off x="4060825" y="2503488"/>
                        <a:ext cx="4070350" cy="1847850"/>
                      </a:xfrm>
                      <a:prstGeom prst="rect">
                        <a:avLst/>
                      </a:prstGeom>
                    </p:spPr>
                  </p:pic>
                </p:oleObj>
              </mc:Fallback>
            </mc:AlternateContent>
          </a:graphicData>
        </a:graphic>
      </p:graphicFrame>
    </p:spTree>
    <p:extLst>
      <p:ext uri="{BB962C8B-B14F-4D97-AF65-F5344CB8AC3E}">
        <p14:creationId xmlns:p14="http://schemas.microsoft.com/office/powerpoint/2010/main" val="46930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FE755-2E1B-7CBF-E868-C673348B2CC5}"/>
              </a:ext>
            </a:extLst>
          </p:cNvPr>
          <p:cNvSpPr>
            <a:spLocks noGrp="1"/>
          </p:cNvSpPr>
          <p:nvPr>
            <p:ph type="title"/>
          </p:nvPr>
        </p:nvSpPr>
        <p:spPr>
          <a:xfrm>
            <a:off x="838200" y="365126"/>
            <a:ext cx="10515600" cy="48532"/>
          </a:xfrm>
        </p:spPr>
        <p:txBody>
          <a:bodyPr>
            <a:normAutofit fontScale="90000"/>
          </a:bodyPr>
          <a:lstStyle/>
          <a:p>
            <a:r>
              <a:rPr lang="en-IN" dirty="0"/>
              <a:t>Resulting Table Task 2.3</a:t>
            </a:r>
          </a:p>
        </p:txBody>
      </p:sp>
      <p:graphicFrame>
        <p:nvGraphicFramePr>
          <p:cNvPr id="3" name="Object 2">
            <a:extLst>
              <a:ext uri="{FF2B5EF4-FFF2-40B4-BE49-F238E27FC236}">
                <a16:creationId xmlns:a16="http://schemas.microsoft.com/office/drawing/2014/main" id="{A4C9C8E0-7E4A-4130-6875-D9FF84DCF964}"/>
              </a:ext>
            </a:extLst>
          </p:cNvPr>
          <p:cNvGraphicFramePr>
            <a:graphicFrameLocks noChangeAspect="1"/>
          </p:cNvGraphicFramePr>
          <p:nvPr>
            <p:extLst>
              <p:ext uri="{D42A27DB-BD31-4B8C-83A1-F6EECF244321}">
                <p14:modId xmlns:p14="http://schemas.microsoft.com/office/powerpoint/2010/main" val="2320049766"/>
              </p:ext>
            </p:extLst>
          </p:nvPr>
        </p:nvGraphicFramePr>
        <p:xfrm>
          <a:off x="2571750" y="1122363"/>
          <a:ext cx="7096125" cy="4610100"/>
        </p:xfrm>
        <a:graphic>
          <a:graphicData uri="http://schemas.openxmlformats.org/presentationml/2006/ole">
            <mc:AlternateContent xmlns:mc="http://schemas.openxmlformats.org/markup-compatibility/2006">
              <mc:Choice xmlns:v="urn:schemas-microsoft-com:vml" Requires="v">
                <p:oleObj name="Worksheet" r:id="rId2" imgW="9245797" imgH="4610231" progId="Excel.Sheet.12">
                  <p:embed/>
                </p:oleObj>
              </mc:Choice>
              <mc:Fallback>
                <p:oleObj name="Worksheet" r:id="rId2" imgW="9245797" imgH="4610231" progId="Excel.Sheet.12">
                  <p:embed/>
                  <p:pic>
                    <p:nvPicPr>
                      <p:cNvPr id="3" name="Object 2">
                        <a:extLst>
                          <a:ext uri="{FF2B5EF4-FFF2-40B4-BE49-F238E27FC236}">
                            <a16:creationId xmlns:a16="http://schemas.microsoft.com/office/drawing/2014/main" id="{A4C9C8E0-7E4A-4130-6875-D9FF84DCF964}"/>
                          </a:ext>
                        </a:extLst>
                      </p:cNvPr>
                      <p:cNvPicPr/>
                      <p:nvPr/>
                    </p:nvPicPr>
                    <p:blipFill>
                      <a:blip r:embed="rId3"/>
                      <a:stretch>
                        <a:fillRect/>
                      </a:stretch>
                    </p:blipFill>
                    <p:spPr>
                      <a:xfrm>
                        <a:off x="2571750" y="1122363"/>
                        <a:ext cx="7096125" cy="4610100"/>
                      </a:xfrm>
                      <a:prstGeom prst="rect">
                        <a:avLst/>
                      </a:prstGeom>
                    </p:spPr>
                  </p:pic>
                </p:oleObj>
              </mc:Fallback>
            </mc:AlternateContent>
          </a:graphicData>
        </a:graphic>
      </p:graphicFrame>
    </p:spTree>
    <p:extLst>
      <p:ext uri="{BB962C8B-B14F-4D97-AF65-F5344CB8AC3E}">
        <p14:creationId xmlns:p14="http://schemas.microsoft.com/office/powerpoint/2010/main" val="45557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A3A63-7CFE-F061-60B0-BB7E976DFF15}"/>
              </a:ext>
            </a:extLst>
          </p:cNvPr>
          <p:cNvSpPr>
            <a:spLocks noGrp="1"/>
          </p:cNvSpPr>
          <p:nvPr>
            <p:ph type="ctrTitle"/>
          </p:nvPr>
        </p:nvSpPr>
        <p:spPr>
          <a:xfrm>
            <a:off x="1524000" y="413655"/>
            <a:ext cx="9144000" cy="962706"/>
          </a:xfrm>
        </p:spPr>
        <p:txBody>
          <a:bodyPr>
            <a:normAutofit fontScale="90000"/>
          </a:bodyPr>
          <a:lstStyle/>
          <a:p>
            <a:pPr algn="l"/>
            <a:r>
              <a:rPr lang="en-US" sz="4400" dirty="0"/>
              <a:t>Task 3: Route Optimization Insights </a:t>
            </a:r>
            <a:endParaRPr lang="en-IN" sz="4400" dirty="0"/>
          </a:p>
        </p:txBody>
      </p:sp>
      <p:sp>
        <p:nvSpPr>
          <p:cNvPr id="3" name="Subtitle 2">
            <a:extLst>
              <a:ext uri="{FF2B5EF4-FFF2-40B4-BE49-F238E27FC236}">
                <a16:creationId xmlns:a16="http://schemas.microsoft.com/office/drawing/2014/main" id="{D10C668D-F118-6743-9B4E-CEA43431B4D9}"/>
              </a:ext>
            </a:extLst>
          </p:cNvPr>
          <p:cNvSpPr>
            <a:spLocks noGrp="1"/>
          </p:cNvSpPr>
          <p:nvPr>
            <p:ph type="subTitle" idx="1"/>
          </p:nvPr>
        </p:nvSpPr>
        <p:spPr>
          <a:xfrm>
            <a:off x="1524000" y="1415137"/>
            <a:ext cx="9144000" cy="5442863"/>
          </a:xfrm>
        </p:spPr>
        <p:txBody>
          <a:bodyPr>
            <a:noAutofit/>
          </a:bodyPr>
          <a:lstStyle/>
          <a:p>
            <a:pPr marL="342900" indent="-342900" algn="l">
              <a:buFont typeface="Arial" panose="020B0604020202020204" pitchFamily="34" charset="0"/>
              <a:buChar char="•"/>
            </a:pPr>
            <a:r>
              <a:rPr lang="en-IN" sz="1100" b="1" dirty="0"/>
              <a:t>Task 3.1 - </a:t>
            </a:r>
            <a:r>
              <a:rPr lang="en-US" sz="1100" b="1" dirty="0"/>
              <a:t> For each route, calculate: ○ Average delivery time (in days). ○ Average traffic delay. ○ Distance-to-time efficiency ratio: </a:t>
            </a:r>
            <a:r>
              <a:rPr lang="en-US" sz="1100" b="1" dirty="0" err="1"/>
              <a:t>Distance_KM</a:t>
            </a:r>
            <a:r>
              <a:rPr lang="en-US" sz="1100" b="1" dirty="0"/>
              <a:t> / </a:t>
            </a:r>
            <a:r>
              <a:rPr lang="en-US" sz="1100" b="1" dirty="0" err="1"/>
              <a:t>Average_Travel_Time_Min</a:t>
            </a:r>
            <a:r>
              <a:rPr lang="en-US" sz="1100" b="1" dirty="0"/>
              <a:t>.</a:t>
            </a:r>
          </a:p>
          <a:p>
            <a:pPr marL="342900" indent="-342900" algn="l">
              <a:buFont typeface="Arial" panose="020B0604020202020204" pitchFamily="34" charset="0"/>
              <a:buChar char="•"/>
            </a:pPr>
            <a:r>
              <a:rPr lang="en-US" sz="1100" b="1" dirty="0"/>
              <a:t>Query</a:t>
            </a:r>
            <a:r>
              <a:rPr lang="en-US" sz="1100" dirty="0"/>
              <a:t> - SELECT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ROUND(AVG(</a:t>
            </a:r>
            <a:r>
              <a:rPr lang="en-US" sz="1100" dirty="0" err="1"/>
              <a:t>o.delivery_delay_days</a:t>
            </a:r>
            <a:r>
              <a:rPr lang="en-US" sz="1100" dirty="0"/>
              <a:t>), 2) AS </a:t>
            </a:r>
            <a:r>
              <a:rPr lang="en-US" sz="1100" dirty="0" err="1"/>
              <a:t>avg_delivery_delay_days</a:t>
            </a:r>
            <a:r>
              <a:rPr lang="en-US" sz="1100" dirty="0"/>
              <a:t>,  ROUND(AVG(</a:t>
            </a:r>
            <a:r>
              <a:rPr lang="en-US" sz="1100" dirty="0" err="1"/>
              <a:t>r.traffic_delay_min</a:t>
            </a:r>
            <a:r>
              <a:rPr lang="en-US" sz="1100" dirty="0"/>
              <a:t>), 2) AS </a:t>
            </a:r>
            <a:r>
              <a:rPr lang="en-US" sz="1100" dirty="0" err="1"/>
              <a:t>avg_traffic_delay_min</a:t>
            </a:r>
            <a:r>
              <a:rPr lang="en-US" sz="1100" dirty="0"/>
              <a:t>,  </a:t>
            </a:r>
            <a:r>
              <a:rPr lang="en-US" sz="1100" dirty="0" err="1"/>
              <a:t>r.distance_km</a:t>
            </a:r>
            <a:r>
              <a:rPr lang="en-US" sz="1100" dirty="0"/>
              <a:t>,  </a:t>
            </a:r>
            <a:r>
              <a:rPr lang="en-US" sz="1100" dirty="0" err="1"/>
              <a:t>r.average_travel_time_min</a:t>
            </a:r>
            <a:r>
              <a:rPr lang="en-US" sz="1100" dirty="0"/>
              <a:t>,  ROUND(    CASE      WHEN </a:t>
            </a:r>
            <a:r>
              <a:rPr lang="en-US" sz="1100" dirty="0" err="1"/>
              <a:t>r.average_travel_time_min</a:t>
            </a:r>
            <a:r>
              <a:rPr lang="en-US" sz="1100" dirty="0"/>
              <a:t> IS NULL OR </a:t>
            </a:r>
            <a:r>
              <a:rPr lang="en-US" sz="1100" dirty="0" err="1"/>
              <a:t>r.average_travel_time_min</a:t>
            </a:r>
            <a:r>
              <a:rPr lang="en-US" sz="1100" dirty="0"/>
              <a:t> = 0 THEN NULL      ELSE (</a:t>
            </a:r>
            <a:r>
              <a:rPr lang="en-US" sz="1100" dirty="0" err="1"/>
              <a:t>r.distance_km</a:t>
            </a:r>
            <a:r>
              <a:rPr lang="en-US" sz="1100" dirty="0"/>
              <a:t> / </a:t>
            </a:r>
            <a:r>
              <a:rPr lang="en-US" sz="1100" dirty="0" err="1"/>
              <a:t>r.average_travel_time_min</a:t>
            </a:r>
            <a:r>
              <a:rPr lang="en-US" sz="1100" dirty="0"/>
              <a:t>) * 60.0    END  , 2) AS </a:t>
            </a:r>
            <a:r>
              <a:rPr lang="en-US" sz="1100" dirty="0" err="1"/>
              <a:t>km_per_hour_estimateFROM</a:t>
            </a:r>
            <a:r>
              <a:rPr lang="en-US" sz="1100" dirty="0"/>
              <a:t> Routes </a:t>
            </a:r>
            <a:r>
              <a:rPr lang="en-US" sz="1100" dirty="0" err="1"/>
              <a:t>rLEFT</a:t>
            </a:r>
            <a:r>
              <a:rPr lang="en-US" sz="1100" dirty="0"/>
              <a:t> JOIN </a:t>
            </a:r>
            <a:r>
              <a:rPr lang="en-US" sz="1100" dirty="0" err="1"/>
              <a:t>orders_clean</a:t>
            </a:r>
            <a:r>
              <a:rPr lang="en-US" sz="1100" dirty="0"/>
              <a:t> o  ON </a:t>
            </a:r>
            <a:r>
              <a:rPr lang="en-US" sz="1100" dirty="0" err="1"/>
              <a:t>r.route_id</a:t>
            </a:r>
            <a:r>
              <a:rPr lang="en-US" sz="1100" dirty="0"/>
              <a:t> = </a:t>
            </a:r>
            <a:r>
              <a:rPr lang="en-US" sz="1100" dirty="0" err="1"/>
              <a:t>o.route_idWHERE</a:t>
            </a:r>
            <a:r>
              <a:rPr lang="en-US" sz="1100" dirty="0"/>
              <a:t> </a:t>
            </a:r>
            <a:r>
              <a:rPr lang="en-US" sz="1100" dirty="0" err="1"/>
              <a:t>o.delivery_delay_days</a:t>
            </a:r>
            <a:r>
              <a:rPr lang="en-US" sz="1100" dirty="0"/>
              <a:t> IS NOT NULL   		GROUP BY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a:t>
            </a:r>
            <a:r>
              <a:rPr lang="en-US" sz="1100" dirty="0" err="1"/>
              <a:t>r.distance_km</a:t>
            </a:r>
            <a:r>
              <a:rPr lang="en-US" sz="1100" dirty="0"/>
              <a:t>, </a:t>
            </a:r>
            <a:r>
              <a:rPr lang="en-US" sz="1100" dirty="0" err="1"/>
              <a:t>r.average_travel_time_minORDER</a:t>
            </a:r>
            <a:r>
              <a:rPr lang="en-US" sz="1100" dirty="0"/>
              <a:t> BY </a:t>
            </a:r>
            <a:r>
              <a:rPr lang="en-US" sz="1100" dirty="0" err="1"/>
              <a:t>avg_delivery_delay_days</a:t>
            </a:r>
            <a:r>
              <a:rPr lang="en-US" sz="1100" dirty="0"/>
              <a:t> DESCLIMIT 50;</a:t>
            </a:r>
          </a:p>
          <a:p>
            <a:pPr marL="342900" indent="-342900" algn="l">
              <a:buFont typeface="Arial" panose="020B0604020202020204" pitchFamily="34" charset="0"/>
              <a:buChar char="•"/>
            </a:pPr>
            <a:r>
              <a:rPr lang="en-US" sz="1100" b="1" dirty="0"/>
              <a:t>Task 3.2 – Identify 3 routes with the worst efficiency ratio. </a:t>
            </a:r>
          </a:p>
          <a:p>
            <a:pPr marL="342900" indent="-342900" algn="l">
              <a:buFont typeface="Arial" panose="020B0604020202020204" pitchFamily="34" charset="0"/>
              <a:buChar char="•"/>
            </a:pPr>
            <a:r>
              <a:rPr lang="en-US" sz="1100" b="1" dirty="0"/>
              <a:t>Query</a:t>
            </a:r>
            <a:r>
              <a:rPr lang="en-US" sz="1100" dirty="0"/>
              <a:t> - SELECT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ROUND(AVG(</a:t>
            </a:r>
            <a:r>
              <a:rPr lang="en-US" sz="1100" dirty="0" err="1"/>
              <a:t>o.delivery_delay_days</a:t>
            </a:r>
            <a:r>
              <a:rPr lang="en-US" sz="1100" dirty="0"/>
              <a:t>), 2) AS </a:t>
            </a:r>
            <a:r>
              <a:rPr lang="en-US" sz="1100" dirty="0" err="1"/>
              <a:t>avg_delivery_delay_days</a:t>
            </a:r>
            <a:r>
              <a:rPr lang="en-US" sz="1100" dirty="0"/>
              <a:t>,  ROUND(AVG(</a:t>
            </a:r>
            <a:r>
              <a:rPr lang="en-US" sz="1100" dirty="0" err="1"/>
              <a:t>r.traffic_delay_min</a:t>
            </a:r>
            <a:r>
              <a:rPr lang="en-US" sz="1100" dirty="0"/>
              <a:t>), 2) AS </a:t>
            </a:r>
            <a:r>
              <a:rPr lang="en-US" sz="1100" dirty="0" err="1"/>
              <a:t>avg_traffic_delay_min</a:t>
            </a:r>
            <a:r>
              <a:rPr lang="en-US" sz="1100" dirty="0"/>
              <a:t>,  </a:t>
            </a:r>
            <a:r>
              <a:rPr lang="en-US" sz="1100" dirty="0" err="1"/>
              <a:t>r.distance_km</a:t>
            </a:r>
            <a:r>
              <a:rPr lang="en-US" sz="1100" dirty="0"/>
              <a:t>,  </a:t>
            </a:r>
            <a:r>
              <a:rPr lang="en-US" sz="1100" dirty="0" err="1"/>
              <a:t>r.average_travel_time_min</a:t>
            </a:r>
            <a:r>
              <a:rPr lang="en-US" sz="1100" dirty="0"/>
              <a:t>,  ROUND(    CASE      WHEN </a:t>
            </a:r>
            <a:r>
              <a:rPr lang="en-US" sz="1100" dirty="0" err="1"/>
              <a:t>r.average_travel_time_min</a:t>
            </a:r>
            <a:r>
              <a:rPr lang="en-US" sz="1100" dirty="0"/>
              <a:t> IS NULL OR </a:t>
            </a:r>
            <a:r>
              <a:rPr lang="en-US" sz="1100" dirty="0" err="1"/>
              <a:t>r.average_travel_time_min</a:t>
            </a:r>
            <a:r>
              <a:rPr lang="en-US" sz="1100" dirty="0"/>
              <a:t> = 0 THEN NULL      ELSE (</a:t>
            </a:r>
            <a:r>
              <a:rPr lang="en-US" sz="1100" dirty="0" err="1"/>
              <a:t>r.distance_km</a:t>
            </a:r>
            <a:r>
              <a:rPr lang="en-US" sz="1100" dirty="0"/>
              <a:t> / </a:t>
            </a:r>
            <a:r>
              <a:rPr lang="en-US" sz="1100" dirty="0" err="1"/>
              <a:t>r.average_travel_time_min</a:t>
            </a:r>
            <a:r>
              <a:rPr lang="en-US" sz="1100" dirty="0"/>
              <a:t>) * 60.0    END  , 2) AS </a:t>
            </a:r>
            <a:r>
              <a:rPr lang="en-US" sz="1100" dirty="0" err="1"/>
              <a:t>km_per_hour_estimateFROM</a:t>
            </a:r>
            <a:r>
              <a:rPr lang="en-US" sz="1100" dirty="0"/>
              <a:t> Routes </a:t>
            </a:r>
            <a:r>
              <a:rPr lang="en-US" sz="1100" dirty="0" err="1"/>
              <a:t>rLEFT</a:t>
            </a:r>
            <a:r>
              <a:rPr lang="en-US" sz="1100" dirty="0"/>
              <a:t> JOIN </a:t>
            </a:r>
            <a:r>
              <a:rPr lang="en-US" sz="1100" dirty="0" err="1"/>
              <a:t>orders_clean</a:t>
            </a:r>
            <a:r>
              <a:rPr lang="en-US" sz="1100" dirty="0"/>
              <a:t> o  ON </a:t>
            </a:r>
            <a:r>
              <a:rPr lang="en-US" sz="1100" dirty="0" err="1"/>
              <a:t>r.route_id</a:t>
            </a:r>
            <a:r>
              <a:rPr lang="en-US" sz="1100" dirty="0"/>
              <a:t> = </a:t>
            </a:r>
            <a:r>
              <a:rPr lang="en-US" sz="1100" dirty="0" err="1"/>
              <a:t>o.route_idWHERE</a:t>
            </a:r>
            <a:r>
              <a:rPr lang="en-US" sz="1100" dirty="0"/>
              <a:t> </a:t>
            </a:r>
            <a:r>
              <a:rPr lang="en-US" sz="1100" dirty="0" err="1"/>
              <a:t>o.delivery_delay_days</a:t>
            </a:r>
            <a:r>
              <a:rPr lang="en-US" sz="1100" dirty="0"/>
              <a:t> IS NOT NULL   		GROUP BY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a:t>
            </a:r>
            <a:r>
              <a:rPr lang="en-US" sz="1100" dirty="0" err="1"/>
              <a:t>r.distance_km</a:t>
            </a:r>
            <a:r>
              <a:rPr lang="en-US" sz="1100" dirty="0"/>
              <a:t>, </a:t>
            </a:r>
            <a:r>
              <a:rPr lang="en-US" sz="1100" dirty="0" err="1"/>
              <a:t>r.average_travel_time_minORDER</a:t>
            </a:r>
            <a:r>
              <a:rPr lang="en-US" sz="1100" dirty="0"/>
              <a:t> BY </a:t>
            </a:r>
            <a:r>
              <a:rPr lang="en-US" sz="1100" dirty="0" err="1"/>
              <a:t>avg_delivery_delay_days</a:t>
            </a:r>
            <a:r>
              <a:rPr lang="en-US" sz="1100" dirty="0"/>
              <a:t> DESCLIMIT 50;</a:t>
            </a:r>
          </a:p>
          <a:p>
            <a:pPr marL="342900" indent="-342900" algn="l">
              <a:buFont typeface="Arial" panose="020B0604020202020204" pitchFamily="34" charset="0"/>
              <a:buChar char="•"/>
            </a:pPr>
            <a:r>
              <a:rPr lang="en-US" sz="1100" b="1" dirty="0"/>
              <a:t>Task 3.3 - Find routes with &gt;20% delayed shipments.</a:t>
            </a:r>
          </a:p>
          <a:p>
            <a:pPr marL="342900" indent="-342900" algn="l">
              <a:buFont typeface="Arial" panose="020B0604020202020204" pitchFamily="34" charset="0"/>
              <a:buChar char="•"/>
            </a:pPr>
            <a:r>
              <a:rPr lang="en-US" sz="1100" b="1" dirty="0"/>
              <a:t>Query</a:t>
            </a:r>
            <a:r>
              <a:rPr lang="en-US" sz="1100" dirty="0"/>
              <a:t> - SELECT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COUNT(</a:t>
            </a:r>
            <a:r>
              <a:rPr lang="en-US" sz="1100" dirty="0" err="1"/>
              <a:t>o.order_id</a:t>
            </a:r>
            <a:r>
              <a:rPr lang="en-US" sz="1100" dirty="0"/>
              <a:t>) AS </a:t>
            </a:r>
            <a:r>
              <a:rPr lang="en-US" sz="1100" dirty="0" err="1"/>
              <a:t>total_orders</a:t>
            </a:r>
            <a:r>
              <a:rPr lang="en-US" sz="1100" dirty="0"/>
              <a:t>,  SUM(CASE WHEN </a:t>
            </a:r>
            <a:r>
              <a:rPr lang="en-US" sz="1100" dirty="0" err="1"/>
              <a:t>o.delivery_delay_days</a:t>
            </a:r>
            <a:r>
              <a:rPr lang="en-US" sz="1100" dirty="0"/>
              <a:t> &gt; 0 THEN 1 ELSE 0 END) AS </a:t>
            </a:r>
            <a:r>
              <a:rPr lang="en-US" sz="1100" dirty="0" err="1"/>
              <a:t>delayed_count</a:t>
            </a:r>
            <a:r>
              <a:rPr lang="en-US" sz="1100" dirty="0"/>
              <a:t>,  ROUND(100.0 * SUM(CASE WHEN </a:t>
            </a:r>
            <a:r>
              <a:rPr lang="en-US" sz="1100" dirty="0" err="1"/>
              <a:t>o.delivery_delay_days</a:t>
            </a:r>
            <a:r>
              <a:rPr lang="en-US" sz="1100" dirty="0"/>
              <a:t> &gt; 0 THEN 1 ELSE 0 END) / NULLIF(COUNT(</a:t>
            </a:r>
            <a:r>
              <a:rPr lang="en-US" sz="1100" dirty="0" err="1"/>
              <a:t>o.order_id</a:t>
            </a:r>
            <a:r>
              <a:rPr lang="en-US" sz="1100" dirty="0"/>
              <a:t>),0), 2) AS </a:t>
            </a:r>
            <a:r>
              <a:rPr lang="en-US" sz="1100" dirty="0" err="1"/>
              <a:t>pct_delayedFROM</a:t>
            </a:r>
            <a:r>
              <a:rPr lang="en-US" sz="1100" dirty="0"/>
              <a:t> Routes </a:t>
            </a:r>
            <a:r>
              <a:rPr lang="en-US" sz="1100" dirty="0" err="1"/>
              <a:t>rJOIN</a:t>
            </a:r>
            <a:r>
              <a:rPr lang="en-US" sz="1100" dirty="0"/>
              <a:t> </a:t>
            </a:r>
            <a:r>
              <a:rPr lang="en-US" sz="1100" dirty="0" err="1"/>
              <a:t>orders_clean</a:t>
            </a:r>
            <a:r>
              <a:rPr lang="en-US" sz="1100" dirty="0"/>
              <a:t> o ON </a:t>
            </a:r>
            <a:r>
              <a:rPr lang="en-US" sz="1100" dirty="0" err="1"/>
              <a:t>r.route_id</a:t>
            </a:r>
            <a:r>
              <a:rPr lang="en-US" sz="1100" dirty="0"/>
              <a:t> = </a:t>
            </a:r>
            <a:r>
              <a:rPr lang="en-US" sz="1100" dirty="0" err="1"/>
              <a:t>o.route_idWHERE</a:t>
            </a:r>
            <a:r>
              <a:rPr lang="en-US" sz="1100" dirty="0"/>
              <a:t> </a:t>
            </a:r>
            <a:r>
              <a:rPr lang="en-US" sz="1100" dirty="0" err="1"/>
              <a:t>o.delivery_delay_days</a:t>
            </a:r>
            <a:r>
              <a:rPr lang="en-US" sz="1100" dirty="0"/>
              <a:t> IS NOT NULLGROUP BY </a:t>
            </a:r>
            <a:r>
              <a:rPr lang="en-US" sz="1100" dirty="0" err="1"/>
              <a:t>r.route_id</a:t>
            </a:r>
            <a:r>
              <a:rPr lang="en-US" sz="1100" dirty="0"/>
              <a:t>, </a:t>
            </a:r>
            <a:r>
              <a:rPr lang="en-US" sz="1100" dirty="0" err="1"/>
              <a:t>r.start_location</a:t>
            </a:r>
            <a:r>
              <a:rPr lang="en-US" sz="1100" dirty="0"/>
              <a:t>, </a:t>
            </a:r>
            <a:r>
              <a:rPr lang="en-US" sz="1100" dirty="0" err="1"/>
              <a:t>r.end_locationHAVING</a:t>
            </a:r>
            <a:r>
              <a:rPr lang="en-US" sz="1100" dirty="0"/>
              <a:t> </a:t>
            </a:r>
            <a:r>
              <a:rPr lang="en-US" sz="1100" dirty="0" err="1"/>
              <a:t>pct_delayed</a:t>
            </a:r>
            <a:r>
              <a:rPr lang="en-US" sz="1100" dirty="0"/>
              <a:t> &gt; 20.0ORDER BY </a:t>
            </a:r>
            <a:r>
              <a:rPr lang="en-US" sz="1100" dirty="0" err="1"/>
              <a:t>pct_delayed</a:t>
            </a:r>
            <a:r>
              <a:rPr lang="en-US" sz="1100" dirty="0"/>
              <a:t> DESC, </a:t>
            </a:r>
            <a:r>
              <a:rPr lang="en-US" sz="1100" dirty="0" err="1"/>
              <a:t>delayed_count</a:t>
            </a:r>
            <a:r>
              <a:rPr lang="en-US" sz="1100" dirty="0"/>
              <a:t> DESC;</a:t>
            </a:r>
          </a:p>
          <a:p>
            <a:pPr marL="342900" indent="-342900" algn="l">
              <a:buFont typeface="Arial" panose="020B0604020202020204" pitchFamily="34" charset="0"/>
              <a:buChar char="•"/>
            </a:pPr>
            <a:r>
              <a:rPr lang="en-US" sz="1100" b="1" dirty="0"/>
              <a:t>Task 3.4 - Recommend potential routes for optimization. </a:t>
            </a:r>
          </a:p>
          <a:p>
            <a:pPr marL="342900" indent="-342900" algn="l">
              <a:buFont typeface="Arial" panose="020B0604020202020204" pitchFamily="34" charset="0"/>
              <a:buChar char="•"/>
            </a:pPr>
            <a:r>
              <a:rPr lang="en-US" sz="1100" b="1" dirty="0"/>
              <a:t>Query</a:t>
            </a:r>
            <a:r>
              <a:rPr lang="en-US" sz="1100" dirty="0"/>
              <a:t> - CREATE TEMPORARY TABLE </a:t>
            </a:r>
            <a:r>
              <a:rPr lang="en-US" sz="1100" dirty="0" err="1"/>
              <a:t>tmp_route_stats</a:t>
            </a:r>
            <a:r>
              <a:rPr lang="en-US" sz="1100" dirty="0"/>
              <a:t> ASSELECT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a:t>
            </a:r>
            <a:r>
              <a:rPr lang="en-US" sz="1100" dirty="0" err="1"/>
              <a:t>r.distance_km</a:t>
            </a:r>
            <a:r>
              <a:rPr lang="en-US" sz="1100" dirty="0"/>
              <a:t>,  </a:t>
            </a:r>
            <a:r>
              <a:rPr lang="en-US" sz="1100" dirty="0" err="1"/>
              <a:t>r.average_travel_time_min</a:t>
            </a:r>
            <a:r>
              <a:rPr lang="en-US" sz="1100" dirty="0"/>
              <a:t>,  COUNT(</a:t>
            </a:r>
            <a:r>
              <a:rPr lang="en-US" sz="1100" dirty="0" err="1"/>
              <a:t>o.order_id</a:t>
            </a:r>
            <a:r>
              <a:rPr lang="en-US" sz="1100" dirty="0"/>
              <a:t>) AS </a:t>
            </a:r>
            <a:r>
              <a:rPr lang="en-US" sz="1100" dirty="0" err="1"/>
              <a:t>orders_count</a:t>
            </a:r>
            <a:r>
              <a:rPr lang="en-US" sz="1100" dirty="0"/>
              <a:t>,  ROUND(AVG(</a:t>
            </a:r>
            <a:r>
              <a:rPr lang="en-US" sz="1100" dirty="0" err="1"/>
              <a:t>o.delivery_delay_days</a:t>
            </a:r>
            <a:r>
              <a:rPr lang="en-US" sz="1100" dirty="0"/>
              <a:t>),2) AS </a:t>
            </a:r>
            <a:r>
              <a:rPr lang="en-US" sz="1100" dirty="0" err="1"/>
              <a:t>avg_delay_days</a:t>
            </a:r>
            <a:r>
              <a:rPr lang="en-US" sz="1100" dirty="0"/>
              <a:t>,  ROUND(100.0 * SUM(CASE WHEN </a:t>
            </a:r>
            <a:r>
              <a:rPr lang="en-US" sz="1100" dirty="0" err="1"/>
              <a:t>o.delivery_delay_days</a:t>
            </a:r>
            <a:r>
              <a:rPr lang="en-US" sz="1100" dirty="0"/>
              <a:t> &gt; 0 THEN 1 ELSE 0 END) / NULLIF(COUNT(</a:t>
            </a:r>
            <a:r>
              <a:rPr lang="en-US" sz="1100" dirty="0" err="1"/>
              <a:t>o.order_id</a:t>
            </a:r>
            <a:r>
              <a:rPr lang="en-US" sz="1100" dirty="0"/>
              <a:t>),0),2) AS </a:t>
            </a:r>
            <a:r>
              <a:rPr lang="en-US" sz="1100" dirty="0" err="1"/>
              <a:t>pct_delayed</a:t>
            </a:r>
            <a:r>
              <a:rPr lang="en-US" sz="1100" dirty="0"/>
              <a:t>,  ROUND(AVG(</a:t>
            </a:r>
            <a:r>
              <a:rPr lang="en-US" sz="1100" dirty="0" err="1"/>
              <a:t>r.traffic_delay_min</a:t>
            </a:r>
            <a:r>
              <a:rPr lang="en-US" sz="1100" dirty="0"/>
              <a:t>),2) AS </a:t>
            </a:r>
            <a:r>
              <a:rPr lang="en-US" sz="1100" dirty="0" err="1"/>
              <a:t>avg_traffic_delay_min</a:t>
            </a:r>
            <a:r>
              <a:rPr lang="en-US" sz="1100" dirty="0"/>
              <a:t>,  ROUND(    CASE WHEN </a:t>
            </a:r>
            <a:r>
              <a:rPr lang="en-US" sz="1100" dirty="0" err="1"/>
              <a:t>r.average_travel_time_min</a:t>
            </a:r>
            <a:r>
              <a:rPr lang="en-US" sz="1100" dirty="0"/>
              <a:t> IS NULL OR </a:t>
            </a:r>
            <a:r>
              <a:rPr lang="en-US" sz="1100" dirty="0" err="1"/>
              <a:t>r.average_travel_time_min</a:t>
            </a:r>
            <a:r>
              <a:rPr lang="en-US" sz="1100" dirty="0"/>
              <a:t> = 0 THEN NULL         ELSE (</a:t>
            </a:r>
            <a:r>
              <a:rPr lang="en-US" sz="1100" dirty="0" err="1"/>
              <a:t>r.distance_km</a:t>
            </a:r>
            <a:r>
              <a:rPr lang="en-US" sz="1100" dirty="0"/>
              <a:t> / </a:t>
            </a:r>
            <a:r>
              <a:rPr lang="en-US" sz="1100" dirty="0" err="1"/>
              <a:t>r.average_travel_time_min</a:t>
            </a:r>
            <a:r>
              <a:rPr lang="en-US" sz="1100" dirty="0"/>
              <a:t>) * 60.0 END  ,2) AS </a:t>
            </a:r>
            <a:r>
              <a:rPr lang="en-US" sz="1100" dirty="0" err="1"/>
              <a:t>km_per_hourFROM</a:t>
            </a:r>
            <a:r>
              <a:rPr lang="en-US" sz="1100" dirty="0"/>
              <a:t> Routes </a:t>
            </a:r>
            <a:r>
              <a:rPr lang="en-US" sz="1100" dirty="0" err="1"/>
              <a:t>rLEFT</a:t>
            </a:r>
            <a:r>
              <a:rPr lang="en-US" sz="1100" dirty="0"/>
              <a:t> JOIN </a:t>
            </a:r>
            <a:r>
              <a:rPr lang="en-US" sz="1100" dirty="0" err="1"/>
              <a:t>orders_clean</a:t>
            </a:r>
            <a:r>
              <a:rPr lang="en-US" sz="1100" dirty="0"/>
              <a:t> o ON </a:t>
            </a:r>
            <a:r>
              <a:rPr lang="en-US" sz="1100" dirty="0" err="1"/>
              <a:t>r.route_id</a:t>
            </a:r>
            <a:r>
              <a:rPr lang="en-US" sz="1100" dirty="0"/>
              <a:t> = </a:t>
            </a:r>
            <a:r>
              <a:rPr lang="en-US" sz="1100" dirty="0" err="1"/>
              <a:t>o.route_idWHERE</a:t>
            </a:r>
            <a:r>
              <a:rPr lang="en-US" sz="1100" dirty="0"/>
              <a:t> </a:t>
            </a:r>
            <a:r>
              <a:rPr lang="en-US" sz="1100" dirty="0" err="1"/>
              <a:t>o.delivery_delay_days</a:t>
            </a:r>
            <a:r>
              <a:rPr lang="en-US" sz="1100" dirty="0"/>
              <a:t> IS NOT NULLGROUP BY </a:t>
            </a:r>
            <a:r>
              <a:rPr lang="en-US" sz="1100" dirty="0" err="1"/>
              <a:t>r.route_id</a:t>
            </a:r>
            <a:r>
              <a:rPr lang="en-US" sz="1100" dirty="0"/>
              <a:t>, </a:t>
            </a:r>
            <a:r>
              <a:rPr lang="en-US" sz="1100" dirty="0" err="1"/>
              <a:t>r.start_location</a:t>
            </a:r>
            <a:r>
              <a:rPr lang="en-US" sz="1100" dirty="0"/>
              <a:t>, </a:t>
            </a:r>
            <a:r>
              <a:rPr lang="en-US" sz="1100" dirty="0" err="1"/>
              <a:t>r.end_location</a:t>
            </a:r>
            <a:r>
              <a:rPr lang="en-US" sz="1100" dirty="0"/>
              <a:t>, </a:t>
            </a:r>
            <a:r>
              <a:rPr lang="en-US" sz="1100" dirty="0" err="1"/>
              <a:t>r.distance_km</a:t>
            </a:r>
            <a:r>
              <a:rPr lang="en-US" sz="1100" dirty="0"/>
              <a:t>, </a:t>
            </a:r>
            <a:r>
              <a:rPr lang="en-US" sz="1100" dirty="0" err="1"/>
              <a:t>r.average_travel_time_min;SELECT</a:t>
            </a:r>
            <a:r>
              <a:rPr lang="en-US" sz="1100" dirty="0"/>
              <a:t> * FROM </a:t>
            </a:r>
            <a:r>
              <a:rPr lang="en-US" sz="1100" dirty="0" err="1"/>
              <a:t>tmp_route_stats</a:t>
            </a:r>
            <a:r>
              <a:rPr lang="en-US" sz="1100" dirty="0"/>
              <a:t> ORDER BY </a:t>
            </a:r>
            <a:r>
              <a:rPr lang="en-US" sz="1100" dirty="0" err="1"/>
              <a:t>avg_delay_days</a:t>
            </a:r>
            <a:r>
              <a:rPr lang="en-US" sz="1100" dirty="0"/>
              <a:t> DESC LIMIT 5;</a:t>
            </a:r>
            <a:endParaRPr lang="en-IN" sz="1100" dirty="0"/>
          </a:p>
        </p:txBody>
      </p:sp>
    </p:spTree>
    <p:extLst>
      <p:ext uri="{BB962C8B-B14F-4D97-AF65-F5344CB8AC3E}">
        <p14:creationId xmlns:p14="http://schemas.microsoft.com/office/powerpoint/2010/main" val="73529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77431-EEE0-024B-843C-08FFFEA8E79A}"/>
              </a:ext>
            </a:extLst>
          </p:cNvPr>
          <p:cNvSpPr>
            <a:spLocks noGrp="1"/>
          </p:cNvSpPr>
          <p:nvPr>
            <p:ph type="title"/>
          </p:nvPr>
        </p:nvSpPr>
        <p:spPr>
          <a:xfrm>
            <a:off x="838200" y="365125"/>
            <a:ext cx="10515600" cy="45719"/>
          </a:xfrm>
        </p:spPr>
        <p:txBody>
          <a:bodyPr>
            <a:normAutofit fontScale="90000"/>
          </a:bodyPr>
          <a:lstStyle/>
          <a:p>
            <a:r>
              <a:rPr lang="en-IN" dirty="0"/>
              <a:t>Resulting Table Task 3.1</a:t>
            </a:r>
          </a:p>
        </p:txBody>
      </p:sp>
      <p:graphicFrame>
        <p:nvGraphicFramePr>
          <p:cNvPr id="3" name="Object 2">
            <a:extLst>
              <a:ext uri="{FF2B5EF4-FFF2-40B4-BE49-F238E27FC236}">
                <a16:creationId xmlns:a16="http://schemas.microsoft.com/office/drawing/2014/main" id="{F52ADE5F-A89B-DE40-E467-9E21562AC104}"/>
              </a:ext>
            </a:extLst>
          </p:cNvPr>
          <p:cNvGraphicFramePr>
            <a:graphicFrameLocks noChangeAspect="1"/>
          </p:cNvGraphicFramePr>
          <p:nvPr>
            <p:extLst>
              <p:ext uri="{D42A27DB-BD31-4B8C-83A1-F6EECF244321}">
                <p14:modId xmlns:p14="http://schemas.microsoft.com/office/powerpoint/2010/main" val="1988073721"/>
              </p:ext>
            </p:extLst>
          </p:nvPr>
        </p:nvGraphicFramePr>
        <p:xfrm>
          <a:off x="1962150" y="1490663"/>
          <a:ext cx="8267700" cy="3873500"/>
        </p:xfrm>
        <a:graphic>
          <a:graphicData uri="http://schemas.openxmlformats.org/presentationml/2006/ole">
            <mc:AlternateContent xmlns:mc="http://schemas.openxmlformats.org/markup-compatibility/2006">
              <mc:Choice xmlns:v="urn:schemas-microsoft-com:vml" Requires="v">
                <p:oleObj name="Worksheet" r:id="rId2" imgW="8267675" imgH="3873588" progId="Excel.Sheet.12">
                  <p:embed/>
                </p:oleObj>
              </mc:Choice>
              <mc:Fallback>
                <p:oleObj name="Worksheet" r:id="rId2" imgW="8267675" imgH="3873588" progId="Excel.Sheet.12">
                  <p:embed/>
                  <p:pic>
                    <p:nvPicPr>
                      <p:cNvPr id="3" name="Object 2">
                        <a:extLst>
                          <a:ext uri="{FF2B5EF4-FFF2-40B4-BE49-F238E27FC236}">
                            <a16:creationId xmlns:a16="http://schemas.microsoft.com/office/drawing/2014/main" id="{F52ADE5F-A89B-DE40-E467-9E21562AC104}"/>
                          </a:ext>
                        </a:extLst>
                      </p:cNvPr>
                      <p:cNvPicPr/>
                      <p:nvPr/>
                    </p:nvPicPr>
                    <p:blipFill>
                      <a:blip r:embed="rId3"/>
                      <a:stretch>
                        <a:fillRect/>
                      </a:stretch>
                    </p:blipFill>
                    <p:spPr>
                      <a:xfrm>
                        <a:off x="1962150" y="1490663"/>
                        <a:ext cx="8267700" cy="3873500"/>
                      </a:xfrm>
                      <a:prstGeom prst="rect">
                        <a:avLst/>
                      </a:prstGeom>
                    </p:spPr>
                  </p:pic>
                </p:oleObj>
              </mc:Fallback>
            </mc:AlternateContent>
          </a:graphicData>
        </a:graphic>
      </p:graphicFrame>
    </p:spTree>
    <p:extLst>
      <p:ext uri="{BB962C8B-B14F-4D97-AF65-F5344CB8AC3E}">
        <p14:creationId xmlns:p14="http://schemas.microsoft.com/office/powerpoint/2010/main" val="2454247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FD37-14FD-C954-9488-3B7A19DFFA16}"/>
              </a:ext>
            </a:extLst>
          </p:cNvPr>
          <p:cNvSpPr>
            <a:spLocks noGrp="1"/>
          </p:cNvSpPr>
          <p:nvPr>
            <p:ph type="title"/>
          </p:nvPr>
        </p:nvSpPr>
        <p:spPr>
          <a:xfrm>
            <a:off x="838200" y="365125"/>
            <a:ext cx="10515600" cy="45719"/>
          </a:xfrm>
        </p:spPr>
        <p:txBody>
          <a:bodyPr>
            <a:normAutofit fontScale="90000"/>
          </a:bodyPr>
          <a:lstStyle/>
          <a:p>
            <a:r>
              <a:rPr lang="en-IN" dirty="0"/>
              <a:t>Resulting Table Task 3.2</a:t>
            </a:r>
          </a:p>
        </p:txBody>
      </p:sp>
      <p:graphicFrame>
        <p:nvGraphicFramePr>
          <p:cNvPr id="3" name="Object 2">
            <a:extLst>
              <a:ext uri="{FF2B5EF4-FFF2-40B4-BE49-F238E27FC236}">
                <a16:creationId xmlns:a16="http://schemas.microsoft.com/office/drawing/2014/main" id="{2D007A35-3D6A-C71A-EE32-52388305389F}"/>
              </a:ext>
            </a:extLst>
          </p:cNvPr>
          <p:cNvGraphicFramePr>
            <a:graphicFrameLocks noChangeAspect="1"/>
          </p:cNvGraphicFramePr>
          <p:nvPr>
            <p:extLst>
              <p:ext uri="{D42A27DB-BD31-4B8C-83A1-F6EECF244321}">
                <p14:modId xmlns:p14="http://schemas.microsoft.com/office/powerpoint/2010/main" val="239803475"/>
              </p:ext>
            </p:extLst>
          </p:nvPr>
        </p:nvGraphicFramePr>
        <p:xfrm>
          <a:off x="3381375" y="3055938"/>
          <a:ext cx="5429250" cy="742950"/>
        </p:xfrm>
        <a:graphic>
          <a:graphicData uri="http://schemas.openxmlformats.org/presentationml/2006/ole">
            <mc:AlternateContent xmlns:mc="http://schemas.openxmlformats.org/markup-compatibility/2006">
              <mc:Choice xmlns:v="urn:schemas-microsoft-com:vml" Requires="v">
                <p:oleObj name="Worksheet" r:id="rId2" imgW="5429188" imgH="742950" progId="Excel.Sheet.12">
                  <p:embed/>
                </p:oleObj>
              </mc:Choice>
              <mc:Fallback>
                <p:oleObj name="Worksheet" r:id="rId2" imgW="5429188" imgH="742950" progId="Excel.Sheet.12">
                  <p:embed/>
                  <p:pic>
                    <p:nvPicPr>
                      <p:cNvPr id="3" name="Object 2">
                        <a:extLst>
                          <a:ext uri="{FF2B5EF4-FFF2-40B4-BE49-F238E27FC236}">
                            <a16:creationId xmlns:a16="http://schemas.microsoft.com/office/drawing/2014/main" id="{2D007A35-3D6A-C71A-EE32-52388305389F}"/>
                          </a:ext>
                        </a:extLst>
                      </p:cNvPr>
                      <p:cNvPicPr/>
                      <p:nvPr/>
                    </p:nvPicPr>
                    <p:blipFill>
                      <a:blip r:embed="rId3"/>
                      <a:stretch>
                        <a:fillRect/>
                      </a:stretch>
                    </p:blipFill>
                    <p:spPr>
                      <a:xfrm>
                        <a:off x="3381375" y="3055938"/>
                        <a:ext cx="5429250" cy="742950"/>
                      </a:xfrm>
                      <a:prstGeom prst="rect">
                        <a:avLst/>
                      </a:prstGeom>
                    </p:spPr>
                  </p:pic>
                </p:oleObj>
              </mc:Fallback>
            </mc:AlternateContent>
          </a:graphicData>
        </a:graphic>
      </p:graphicFrame>
    </p:spTree>
    <p:extLst>
      <p:ext uri="{BB962C8B-B14F-4D97-AF65-F5344CB8AC3E}">
        <p14:creationId xmlns:p14="http://schemas.microsoft.com/office/powerpoint/2010/main" val="1708530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2539-255B-7143-7805-9B9CE2B6107B}"/>
              </a:ext>
            </a:extLst>
          </p:cNvPr>
          <p:cNvSpPr>
            <a:spLocks noGrp="1"/>
          </p:cNvSpPr>
          <p:nvPr>
            <p:ph type="title"/>
          </p:nvPr>
        </p:nvSpPr>
        <p:spPr>
          <a:xfrm>
            <a:off x="838200" y="365124"/>
            <a:ext cx="10515600" cy="135618"/>
          </a:xfrm>
        </p:spPr>
        <p:txBody>
          <a:bodyPr>
            <a:normAutofit fontScale="90000"/>
          </a:bodyPr>
          <a:lstStyle/>
          <a:p>
            <a:r>
              <a:rPr lang="en-IN" dirty="0"/>
              <a:t>Resulting Table Task 3.3</a:t>
            </a:r>
          </a:p>
        </p:txBody>
      </p:sp>
      <p:graphicFrame>
        <p:nvGraphicFramePr>
          <p:cNvPr id="3" name="Object 2">
            <a:extLst>
              <a:ext uri="{FF2B5EF4-FFF2-40B4-BE49-F238E27FC236}">
                <a16:creationId xmlns:a16="http://schemas.microsoft.com/office/drawing/2014/main" id="{30FFA279-6F1D-E15D-8913-06961CD43478}"/>
              </a:ext>
            </a:extLst>
          </p:cNvPr>
          <p:cNvGraphicFramePr>
            <a:graphicFrameLocks noChangeAspect="1"/>
          </p:cNvGraphicFramePr>
          <p:nvPr>
            <p:extLst>
              <p:ext uri="{D42A27DB-BD31-4B8C-83A1-F6EECF244321}">
                <p14:modId xmlns:p14="http://schemas.microsoft.com/office/powerpoint/2010/main" val="433729924"/>
              </p:ext>
            </p:extLst>
          </p:nvPr>
        </p:nvGraphicFramePr>
        <p:xfrm>
          <a:off x="3730625" y="2043113"/>
          <a:ext cx="4730750" cy="2768600"/>
        </p:xfrm>
        <a:graphic>
          <a:graphicData uri="http://schemas.openxmlformats.org/presentationml/2006/ole">
            <mc:AlternateContent xmlns:mc="http://schemas.openxmlformats.org/markup-compatibility/2006">
              <mc:Choice xmlns:v="urn:schemas-microsoft-com:vml" Requires="v">
                <p:oleObj name="Worksheet" r:id="rId2" imgW="4730812" imgH="2768425" progId="Excel.Sheet.12">
                  <p:embed/>
                </p:oleObj>
              </mc:Choice>
              <mc:Fallback>
                <p:oleObj name="Worksheet" r:id="rId2" imgW="4730812" imgH="2768425" progId="Excel.Sheet.12">
                  <p:embed/>
                  <p:pic>
                    <p:nvPicPr>
                      <p:cNvPr id="3" name="Object 2">
                        <a:extLst>
                          <a:ext uri="{FF2B5EF4-FFF2-40B4-BE49-F238E27FC236}">
                            <a16:creationId xmlns:a16="http://schemas.microsoft.com/office/drawing/2014/main" id="{30FFA279-6F1D-E15D-8913-06961CD43478}"/>
                          </a:ext>
                        </a:extLst>
                      </p:cNvPr>
                      <p:cNvPicPr/>
                      <p:nvPr/>
                    </p:nvPicPr>
                    <p:blipFill>
                      <a:blip r:embed="rId3"/>
                      <a:stretch>
                        <a:fillRect/>
                      </a:stretch>
                    </p:blipFill>
                    <p:spPr>
                      <a:xfrm>
                        <a:off x="3730625" y="2043113"/>
                        <a:ext cx="4730750" cy="2768600"/>
                      </a:xfrm>
                      <a:prstGeom prst="rect">
                        <a:avLst/>
                      </a:prstGeom>
                    </p:spPr>
                  </p:pic>
                </p:oleObj>
              </mc:Fallback>
            </mc:AlternateContent>
          </a:graphicData>
        </a:graphic>
      </p:graphicFrame>
    </p:spTree>
    <p:extLst>
      <p:ext uri="{BB962C8B-B14F-4D97-AF65-F5344CB8AC3E}">
        <p14:creationId xmlns:p14="http://schemas.microsoft.com/office/powerpoint/2010/main" val="3987338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6A0D-26F0-502D-88CD-8AB57974357F}"/>
              </a:ext>
            </a:extLst>
          </p:cNvPr>
          <p:cNvSpPr>
            <a:spLocks noGrp="1"/>
          </p:cNvSpPr>
          <p:nvPr>
            <p:ph type="title"/>
          </p:nvPr>
        </p:nvSpPr>
        <p:spPr>
          <a:xfrm>
            <a:off x="838200" y="365126"/>
            <a:ext cx="10515600" cy="48532"/>
          </a:xfrm>
        </p:spPr>
        <p:txBody>
          <a:bodyPr>
            <a:normAutofit fontScale="90000"/>
          </a:bodyPr>
          <a:lstStyle/>
          <a:p>
            <a:r>
              <a:rPr lang="en-IN" dirty="0"/>
              <a:t>Resulting Table Task 3.4</a:t>
            </a:r>
          </a:p>
        </p:txBody>
      </p:sp>
      <p:graphicFrame>
        <p:nvGraphicFramePr>
          <p:cNvPr id="3" name="Object 2">
            <a:extLst>
              <a:ext uri="{FF2B5EF4-FFF2-40B4-BE49-F238E27FC236}">
                <a16:creationId xmlns:a16="http://schemas.microsoft.com/office/drawing/2014/main" id="{38446DA3-AF65-AE6F-652E-D27A60850ADF}"/>
              </a:ext>
            </a:extLst>
          </p:cNvPr>
          <p:cNvGraphicFramePr>
            <a:graphicFrameLocks noChangeAspect="1"/>
          </p:cNvGraphicFramePr>
          <p:nvPr>
            <p:extLst>
              <p:ext uri="{D42A27DB-BD31-4B8C-83A1-F6EECF244321}">
                <p14:modId xmlns:p14="http://schemas.microsoft.com/office/powerpoint/2010/main" val="773219501"/>
              </p:ext>
            </p:extLst>
          </p:nvPr>
        </p:nvGraphicFramePr>
        <p:xfrm>
          <a:off x="1435100" y="2871788"/>
          <a:ext cx="9321800" cy="1111250"/>
        </p:xfrm>
        <a:graphic>
          <a:graphicData uri="http://schemas.openxmlformats.org/presentationml/2006/ole">
            <mc:AlternateContent xmlns:mc="http://schemas.openxmlformats.org/markup-compatibility/2006">
              <mc:Choice xmlns:v="urn:schemas-microsoft-com:vml" Requires="v">
                <p:oleObj name="Worksheet" r:id="rId2" imgW="9321948" imgH="1111075" progId="Excel.Sheet.12">
                  <p:embed/>
                </p:oleObj>
              </mc:Choice>
              <mc:Fallback>
                <p:oleObj name="Worksheet" r:id="rId2" imgW="9321948" imgH="1111075" progId="Excel.Sheet.12">
                  <p:embed/>
                  <p:pic>
                    <p:nvPicPr>
                      <p:cNvPr id="3" name="Object 2">
                        <a:extLst>
                          <a:ext uri="{FF2B5EF4-FFF2-40B4-BE49-F238E27FC236}">
                            <a16:creationId xmlns:a16="http://schemas.microsoft.com/office/drawing/2014/main" id="{38446DA3-AF65-AE6F-652E-D27A60850ADF}"/>
                          </a:ext>
                        </a:extLst>
                      </p:cNvPr>
                      <p:cNvPicPr/>
                      <p:nvPr/>
                    </p:nvPicPr>
                    <p:blipFill>
                      <a:blip r:embed="rId3"/>
                      <a:stretch>
                        <a:fillRect/>
                      </a:stretch>
                    </p:blipFill>
                    <p:spPr>
                      <a:xfrm>
                        <a:off x="1435100" y="2871788"/>
                        <a:ext cx="9321800" cy="1111250"/>
                      </a:xfrm>
                      <a:prstGeom prst="rect">
                        <a:avLst/>
                      </a:prstGeom>
                    </p:spPr>
                  </p:pic>
                </p:oleObj>
              </mc:Fallback>
            </mc:AlternateContent>
          </a:graphicData>
        </a:graphic>
      </p:graphicFrame>
    </p:spTree>
    <p:extLst>
      <p:ext uri="{BB962C8B-B14F-4D97-AF65-F5344CB8AC3E}">
        <p14:creationId xmlns:p14="http://schemas.microsoft.com/office/powerpoint/2010/main" val="334568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2200D-1D06-22F7-CE5D-095D5298D1E9}"/>
              </a:ext>
            </a:extLst>
          </p:cNvPr>
          <p:cNvSpPr>
            <a:spLocks noGrp="1"/>
          </p:cNvSpPr>
          <p:nvPr>
            <p:ph type="ctrTitle"/>
          </p:nvPr>
        </p:nvSpPr>
        <p:spPr>
          <a:xfrm>
            <a:off x="1524000" y="370111"/>
            <a:ext cx="9144000" cy="864734"/>
          </a:xfrm>
        </p:spPr>
        <p:txBody>
          <a:bodyPr>
            <a:normAutofit/>
          </a:bodyPr>
          <a:lstStyle/>
          <a:p>
            <a:pPr algn="l"/>
            <a:r>
              <a:rPr lang="en-IN" sz="4400" dirty="0"/>
              <a:t>Task 4: Warehouse Performance</a:t>
            </a:r>
          </a:p>
        </p:txBody>
      </p:sp>
      <p:sp>
        <p:nvSpPr>
          <p:cNvPr id="3" name="Subtitle 2">
            <a:extLst>
              <a:ext uri="{FF2B5EF4-FFF2-40B4-BE49-F238E27FC236}">
                <a16:creationId xmlns:a16="http://schemas.microsoft.com/office/drawing/2014/main" id="{51BEF36D-1156-9209-8816-8CDEF5F23741}"/>
              </a:ext>
            </a:extLst>
          </p:cNvPr>
          <p:cNvSpPr>
            <a:spLocks noGrp="1"/>
          </p:cNvSpPr>
          <p:nvPr>
            <p:ph type="subTitle" idx="1"/>
          </p:nvPr>
        </p:nvSpPr>
        <p:spPr>
          <a:xfrm>
            <a:off x="1524000" y="1153885"/>
            <a:ext cx="9144000" cy="5584372"/>
          </a:xfrm>
        </p:spPr>
        <p:txBody>
          <a:bodyPr>
            <a:noAutofit/>
          </a:bodyPr>
          <a:lstStyle/>
          <a:p>
            <a:pPr marL="342900" indent="-342900" algn="l">
              <a:buFont typeface="Arial" panose="020B0604020202020204" pitchFamily="34" charset="0"/>
              <a:buChar char="•"/>
            </a:pPr>
            <a:r>
              <a:rPr lang="en-IN" sz="1200" b="1" dirty="0"/>
              <a:t>Task 4.1 - </a:t>
            </a:r>
            <a:r>
              <a:rPr lang="en-US" sz="1200" b="1" dirty="0"/>
              <a:t>Find the top 3 warehouses with the highest average processing time. </a:t>
            </a:r>
          </a:p>
          <a:p>
            <a:pPr marL="342900" indent="-342900" algn="l">
              <a:buFont typeface="Arial" panose="020B0604020202020204" pitchFamily="34" charset="0"/>
              <a:buChar char="•"/>
            </a:pPr>
            <a:r>
              <a:rPr lang="en-US" sz="1200" b="1" dirty="0"/>
              <a:t>Query</a:t>
            </a:r>
            <a:r>
              <a:rPr lang="en-US" sz="1200" dirty="0"/>
              <a:t> - SELECT  </a:t>
            </a:r>
            <a:r>
              <a:rPr lang="en-US" sz="1200" dirty="0" err="1"/>
              <a:t>warehouse_id</a:t>
            </a:r>
            <a:r>
              <a:rPr lang="en-US" sz="1200" dirty="0"/>
              <a:t>,  </a:t>
            </a:r>
            <a:r>
              <a:rPr lang="en-US" sz="1200" dirty="0" err="1"/>
              <a:t>warehouse_name</a:t>
            </a:r>
            <a:r>
              <a:rPr lang="en-US" sz="1200" dirty="0"/>
              <a:t>,  ROUND(AVG(</a:t>
            </a:r>
            <a:r>
              <a:rPr lang="en-US" sz="1200" dirty="0" err="1"/>
              <a:t>average_processing_time_min</a:t>
            </a:r>
            <a:r>
              <a:rPr lang="en-US" sz="1200" dirty="0"/>
              <a:t>),2) AS </a:t>
            </a:r>
            <a:r>
              <a:rPr lang="en-US" sz="1200" dirty="0" err="1"/>
              <a:t>avg_processing_time_min</a:t>
            </a:r>
            <a:r>
              <a:rPr lang="en-US" sz="1200" dirty="0"/>
              <a:t>, COUNT(*) AS </a:t>
            </a:r>
            <a:r>
              <a:rPr lang="en-US" sz="1200" dirty="0" err="1"/>
              <a:t>rows_countFROM</a:t>
            </a:r>
            <a:r>
              <a:rPr lang="en-US" sz="1200" dirty="0"/>
              <a:t> </a:t>
            </a:r>
            <a:r>
              <a:rPr lang="en-US" sz="1200" dirty="0" err="1"/>
              <a:t>WarehousesGROUP</a:t>
            </a:r>
            <a:r>
              <a:rPr lang="en-US" sz="1200" dirty="0"/>
              <a:t> BY </a:t>
            </a:r>
            <a:r>
              <a:rPr lang="en-US" sz="1200" dirty="0" err="1"/>
              <a:t>warehouse_id</a:t>
            </a:r>
            <a:r>
              <a:rPr lang="en-US" sz="1200" dirty="0"/>
              <a:t>, </a:t>
            </a:r>
            <a:r>
              <a:rPr lang="en-US" sz="1200" dirty="0" err="1"/>
              <a:t>warehouse_nameORDER</a:t>
            </a:r>
            <a:r>
              <a:rPr lang="en-US" sz="1200" dirty="0"/>
              <a:t> BY </a:t>
            </a:r>
            <a:r>
              <a:rPr lang="en-US" sz="1200" dirty="0" err="1"/>
              <a:t>avg_processing_time_min</a:t>
            </a:r>
            <a:r>
              <a:rPr lang="en-US" sz="1200" dirty="0"/>
              <a:t> DESCLIMIT 3;</a:t>
            </a:r>
          </a:p>
          <a:p>
            <a:pPr marL="342900" indent="-342900" algn="l">
              <a:buFont typeface="Arial" panose="020B0604020202020204" pitchFamily="34" charset="0"/>
              <a:buChar char="•"/>
            </a:pPr>
            <a:r>
              <a:rPr lang="en-US" sz="1200" b="1" dirty="0"/>
              <a:t>Task 4.2 - Calculate total vs. delayed shipments for each warehouse. </a:t>
            </a:r>
          </a:p>
          <a:p>
            <a:pPr marL="342900" indent="-342900" algn="l">
              <a:buFont typeface="Arial" panose="020B0604020202020204" pitchFamily="34" charset="0"/>
              <a:buChar char="•"/>
            </a:pPr>
            <a:r>
              <a:rPr lang="en-US" sz="1200" b="1" dirty="0"/>
              <a:t>Query</a:t>
            </a:r>
            <a:r>
              <a:rPr lang="en-US" sz="1200" dirty="0"/>
              <a:t> - SELECT    </a:t>
            </a:r>
            <a:r>
              <a:rPr lang="en-US" sz="1200" dirty="0" err="1"/>
              <a:t>w.warehouse_id</a:t>
            </a:r>
            <a:r>
              <a:rPr lang="en-US" sz="1200" dirty="0"/>
              <a:t>,    </a:t>
            </a:r>
            <a:r>
              <a:rPr lang="en-US" sz="1200" dirty="0" err="1"/>
              <a:t>w.warehouse_name</a:t>
            </a:r>
            <a:r>
              <a:rPr lang="en-US" sz="1200" dirty="0"/>
              <a:t>,    COUNT(</a:t>
            </a:r>
            <a:r>
              <a:rPr lang="en-US" sz="1200" dirty="0" err="1"/>
              <a:t>o.order_id</a:t>
            </a:r>
            <a:r>
              <a:rPr lang="en-US" sz="1200" dirty="0"/>
              <a:t>) AS </a:t>
            </a:r>
            <a:r>
              <a:rPr lang="en-US" sz="1200" dirty="0" err="1"/>
              <a:t>total_shipments</a:t>
            </a:r>
            <a:r>
              <a:rPr lang="en-US" sz="1200" dirty="0"/>
              <a:t>,    SUM(</a:t>
            </a:r>
            <a:r>
              <a:rPr lang="en-US" sz="1200" dirty="0" err="1"/>
              <a:t>o.delivery_delay_days</a:t>
            </a:r>
            <a:r>
              <a:rPr lang="en-US" sz="1200" dirty="0"/>
              <a:t> &gt; 0) AS </a:t>
            </a:r>
            <a:r>
              <a:rPr lang="en-US" sz="1200" dirty="0" err="1"/>
              <a:t>delayed_shipments</a:t>
            </a:r>
            <a:r>
              <a:rPr lang="en-US" sz="1200" dirty="0"/>
              <a:t>,    ROUND(        100.0 * SUM(</a:t>
            </a:r>
            <a:r>
              <a:rPr lang="en-US" sz="1200" dirty="0" err="1"/>
              <a:t>o.delivery_delay_days</a:t>
            </a:r>
            <a:r>
              <a:rPr lang="en-US" sz="1200" dirty="0"/>
              <a:t> &gt; 0) / NULLIF(COUNT(</a:t>
            </a:r>
            <a:r>
              <a:rPr lang="en-US" sz="1200" dirty="0" err="1"/>
              <a:t>o.order_id</a:t>
            </a:r>
            <a:r>
              <a:rPr lang="en-US" sz="1200" dirty="0"/>
              <a:t>), 0),        2    ) AS </a:t>
            </a:r>
            <a:r>
              <a:rPr lang="en-US" sz="1200" dirty="0" err="1"/>
              <a:t>pct_delayedFROM</a:t>
            </a:r>
            <a:r>
              <a:rPr lang="en-US" sz="1200" dirty="0"/>
              <a:t> Warehouses </a:t>
            </a:r>
            <a:r>
              <a:rPr lang="en-US" sz="1200" dirty="0" err="1"/>
              <a:t>wJOIN</a:t>
            </a:r>
            <a:r>
              <a:rPr lang="en-US" sz="1200" dirty="0"/>
              <a:t> </a:t>
            </a:r>
            <a:r>
              <a:rPr lang="en-US" sz="1200" dirty="0" err="1"/>
              <a:t>orders_clean</a:t>
            </a:r>
            <a:r>
              <a:rPr lang="en-US" sz="1200" dirty="0"/>
              <a:t> o     ON </a:t>
            </a:r>
            <a:r>
              <a:rPr lang="en-US" sz="1200" dirty="0" err="1"/>
              <a:t>w.warehouse_id</a:t>
            </a:r>
            <a:r>
              <a:rPr lang="en-US" sz="1200" dirty="0"/>
              <a:t> = </a:t>
            </a:r>
            <a:r>
              <a:rPr lang="en-US" sz="1200" dirty="0" err="1"/>
              <a:t>o.warehouse_idWHERE</a:t>
            </a:r>
            <a:r>
              <a:rPr lang="en-US" sz="1200" dirty="0"/>
              <a:t> </a:t>
            </a:r>
            <a:r>
              <a:rPr lang="en-US" sz="1200" dirty="0" err="1"/>
              <a:t>o.delivery_delay_days</a:t>
            </a:r>
            <a:r>
              <a:rPr lang="en-US" sz="1200" dirty="0"/>
              <a:t> IS NOT NULLGROUP BY </a:t>
            </a:r>
            <a:r>
              <a:rPr lang="en-US" sz="1200" dirty="0" err="1"/>
              <a:t>w.warehouse_id</a:t>
            </a:r>
            <a:r>
              <a:rPr lang="en-US" sz="1200" dirty="0"/>
              <a:t>, </a:t>
            </a:r>
            <a:r>
              <a:rPr lang="en-US" sz="1200" dirty="0" err="1"/>
              <a:t>w.warehouse_nameORDER</a:t>
            </a:r>
            <a:r>
              <a:rPr lang="en-US" sz="1200" dirty="0"/>
              <a:t> BY </a:t>
            </a:r>
            <a:r>
              <a:rPr lang="en-US" sz="1200" dirty="0" err="1"/>
              <a:t>delayed_shipments</a:t>
            </a:r>
            <a:r>
              <a:rPr lang="en-US" sz="1200" dirty="0"/>
              <a:t> DESC, </a:t>
            </a:r>
            <a:r>
              <a:rPr lang="en-US" sz="1200" dirty="0" err="1"/>
              <a:t>pct_delayed</a:t>
            </a:r>
            <a:r>
              <a:rPr lang="en-US" sz="1200" dirty="0"/>
              <a:t> DESC;</a:t>
            </a:r>
          </a:p>
          <a:p>
            <a:pPr marL="342900" indent="-342900" algn="l">
              <a:buFont typeface="Arial" panose="020B0604020202020204" pitchFamily="34" charset="0"/>
              <a:buChar char="•"/>
            </a:pPr>
            <a:r>
              <a:rPr lang="en-US" sz="1200" b="1" dirty="0"/>
              <a:t>Task 4.3 - Use CTEs to find bottleneck warehouses where processing time &gt; global average.</a:t>
            </a:r>
          </a:p>
          <a:p>
            <a:pPr marL="342900" indent="-342900" algn="l">
              <a:buFont typeface="Arial" panose="020B0604020202020204" pitchFamily="34" charset="0"/>
              <a:buChar char="•"/>
            </a:pPr>
            <a:r>
              <a:rPr lang="en-US" sz="1200" b="1" dirty="0"/>
              <a:t>Query</a:t>
            </a:r>
            <a:r>
              <a:rPr lang="en-US" sz="1200" dirty="0"/>
              <a:t> - WITH </a:t>
            </a:r>
            <a:r>
              <a:rPr lang="en-US" sz="1200" dirty="0" err="1"/>
              <a:t>warehouse_avg</a:t>
            </a:r>
            <a:r>
              <a:rPr lang="en-US" sz="1200" dirty="0"/>
              <a:t> AS (  SELECT    </a:t>
            </a:r>
            <a:r>
              <a:rPr lang="en-US" sz="1200" dirty="0" err="1"/>
              <a:t>warehouse_id</a:t>
            </a:r>
            <a:r>
              <a:rPr lang="en-US" sz="1200" dirty="0"/>
              <a:t>,    </a:t>
            </a:r>
            <a:r>
              <a:rPr lang="en-US" sz="1200" dirty="0" err="1"/>
              <a:t>warehouse_name</a:t>
            </a:r>
            <a:r>
              <a:rPr lang="en-US" sz="1200" dirty="0"/>
              <a:t>,    AVG(</a:t>
            </a:r>
            <a:r>
              <a:rPr lang="en-US" sz="1200" dirty="0" err="1"/>
              <a:t>average_processing_time_min</a:t>
            </a:r>
            <a:r>
              <a:rPr lang="en-US" sz="1200" dirty="0"/>
              <a:t>) AS </a:t>
            </a:r>
            <a:r>
              <a:rPr lang="en-US" sz="1200" dirty="0" err="1"/>
              <a:t>wh_avg_processing_min</a:t>
            </a:r>
            <a:r>
              <a:rPr lang="en-US" sz="1200" dirty="0"/>
              <a:t>,    COUNT(*) AS </a:t>
            </a:r>
            <a:r>
              <a:rPr lang="en-US" sz="1200" dirty="0" err="1"/>
              <a:t>rows_count</a:t>
            </a:r>
            <a:r>
              <a:rPr lang="en-US" sz="1200" dirty="0"/>
              <a:t>  FROM Warehouses  WHERE </a:t>
            </a:r>
            <a:r>
              <a:rPr lang="en-US" sz="1200" dirty="0" err="1"/>
              <a:t>average_processing_time_min</a:t>
            </a:r>
            <a:r>
              <a:rPr lang="en-US" sz="1200" dirty="0"/>
              <a:t> IS NOT NULL  GROUP BY </a:t>
            </a:r>
            <a:r>
              <a:rPr lang="en-US" sz="1200" dirty="0" err="1"/>
              <a:t>warehouse_id</a:t>
            </a:r>
            <a:r>
              <a:rPr lang="en-US" sz="1200" dirty="0"/>
              <a:t>, </a:t>
            </a:r>
            <a:r>
              <a:rPr lang="en-US" sz="1200" dirty="0" err="1"/>
              <a:t>warehouse_name</a:t>
            </a:r>
            <a:r>
              <a:rPr lang="en-US" sz="1200" dirty="0"/>
              <a:t>),</a:t>
            </a:r>
            <a:r>
              <a:rPr lang="en-US" sz="1200" dirty="0" err="1"/>
              <a:t>global_avg</a:t>
            </a:r>
            <a:r>
              <a:rPr lang="en-US" sz="1200" dirty="0"/>
              <a:t> AS (  SELECT AVG(</a:t>
            </a:r>
            <a:r>
              <a:rPr lang="en-US" sz="1200" dirty="0" err="1"/>
              <a:t>average_processing_time_min</a:t>
            </a:r>
            <a:r>
              <a:rPr lang="en-US" sz="1200" dirty="0"/>
              <a:t>) AS </a:t>
            </a:r>
            <a:r>
              <a:rPr lang="en-US" sz="1200" dirty="0" err="1"/>
              <a:t>global_avg_processing_min</a:t>
            </a:r>
            <a:r>
              <a:rPr lang="en-US" sz="1200" dirty="0"/>
              <a:t>  FROM Warehouses  WHERE </a:t>
            </a:r>
            <a:r>
              <a:rPr lang="en-US" sz="1200" dirty="0" err="1"/>
              <a:t>average_processing_time_min</a:t>
            </a:r>
            <a:r>
              <a:rPr lang="en-US" sz="1200" dirty="0"/>
              <a:t> IS NOT NULL)SELECT  </a:t>
            </a:r>
            <a:r>
              <a:rPr lang="en-US" sz="1200" dirty="0" err="1"/>
              <a:t>wa.warehouse_id</a:t>
            </a:r>
            <a:r>
              <a:rPr lang="en-US" sz="1200" dirty="0"/>
              <a:t>,  </a:t>
            </a:r>
            <a:r>
              <a:rPr lang="en-US" sz="1200" dirty="0" err="1"/>
              <a:t>wa.warehouse_name</a:t>
            </a:r>
            <a:r>
              <a:rPr lang="en-US" sz="1200" dirty="0"/>
              <a:t>,  ROUND(wa.wh_avg_processing_min,2) AS </a:t>
            </a:r>
            <a:r>
              <a:rPr lang="en-US" sz="1200" dirty="0" err="1"/>
              <a:t>wh_avg_processing_min</a:t>
            </a:r>
            <a:r>
              <a:rPr lang="en-US" sz="1200" dirty="0"/>
              <a:t>,  ROUND(ga.global_avg_processing_min,2) AS </a:t>
            </a:r>
            <a:r>
              <a:rPr lang="en-US" sz="1200" dirty="0" err="1"/>
              <a:t>global_avg_processing_min</a:t>
            </a:r>
            <a:r>
              <a:rPr lang="en-US" sz="1200" dirty="0"/>
              <a:t>,  </a:t>
            </a:r>
            <a:r>
              <a:rPr lang="en-US" sz="1200" dirty="0" err="1"/>
              <a:t>wa.rows_countFROM</a:t>
            </a:r>
            <a:r>
              <a:rPr lang="en-US" sz="1200" dirty="0"/>
              <a:t> </a:t>
            </a:r>
            <a:r>
              <a:rPr lang="en-US" sz="1200" dirty="0" err="1"/>
              <a:t>warehouse_avg</a:t>
            </a:r>
            <a:r>
              <a:rPr lang="en-US" sz="1200" dirty="0"/>
              <a:t> </a:t>
            </a:r>
            <a:r>
              <a:rPr lang="en-US" sz="1200" dirty="0" err="1"/>
              <a:t>waCROSS</a:t>
            </a:r>
            <a:r>
              <a:rPr lang="en-US" sz="1200" dirty="0"/>
              <a:t> JOIN </a:t>
            </a:r>
            <a:r>
              <a:rPr lang="en-US" sz="1200" dirty="0" err="1"/>
              <a:t>global_avg</a:t>
            </a:r>
            <a:r>
              <a:rPr lang="en-US" sz="1200" dirty="0"/>
              <a:t> </a:t>
            </a:r>
            <a:r>
              <a:rPr lang="en-US" sz="1200" dirty="0" err="1"/>
              <a:t>gaWHERE</a:t>
            </a:r>
            <a:r>
              <a:rPr lang="en-US" sz="1200" dirty="0"/>
              <a:t> </a:t>
            </a:r>
            <a:r>
              <a:rPr lang="en-US" sz="1200" dirty="0" err="1"/>
              <a:t>wa.wh_avg_processing_min</a:t>
            </a:r>
            <a:r>
              <a:rPr lang="en-US" sz="1200" dirty="0"/>
              <a:t> &gt; </a:t>
            </a:r>
            <a:r>
              <a:rPr lang="en-US" sz="1200" dirty="0" err="1"/>
              <a:t>ga.global_avg_processing_minORDER</a:t>
            </a:r>
            <a:r>
              <a:rPr lang="en-US" sz="1200" dirty="0"/>
              <a:t> BY </a:t>
            </a:r>
            <a:r>
              <a:rPr lang="en-US" sz="1200" dirty="0" err="1"/>
              <a:t>wa.wh_avg_processing_min</a:t>
            </a:r>
            <a:r>
              <a:rPr lang="en-US" sz="1200" dirty="0"/>
              <a:t> DESC;</a:t>
            </a:r>
          </a:p>
          <a:p>
            <a:pPr marL="342900" indent="-342900" algn="l">
              <a:buFont typeface="Arial" panose="020B0604020202020204" pitchFamily="34" charset="0"/>
              <a:buChar char="•"/>
            </a:pPr>
            <a:r>
              <a:rPr lang="en-US" sz="1200" b="1" dirty="0"/>
              <a:t>Task 4.4 - Rank warehouses based on on-time delivery percentage. </a:t>
            </a:r>
          </a:p>
          <a:p>
            <a:pPr marL="342900" indent="-342900" algn="l">
              <a:buFont typeface="Arial" panose="020B0604020202020204" pitchFamily="34" charset="0"/>
              <a:buChar char="•"/>
            </a:pPr>
            <a:r>
              <a:rPr lang="en-US" sz="1200" b="1" dirty="0"/>
              <a:t>Querry</a:t>
            </a:r>
            <a:r>
              <a:rPr lang="en-US" sz="1200" dirty="0"/>
              <a:t> - SELECT  </a:t>
            </a:r>
            <a:r>
              <a:rPr lang="en-US" sz="1200" dirty="0" err="1"/>
              <a:t>w.warehouse_id</a:t>
            </a:r>
            <a:r>
              <a:rPr lang="en-US" sz="1200" dirty="0"/>
              <a:t>,  </a:t>
            </a:r>
            <a:r>
              <a:rPr lang="en-US" sz="1200" dirty="0" err="1"/>
              <a:t>w.warehouse_name</a:t>
            </a:r>
            <a:r>
              <a:rPr lang="en-US" sz="1200" dirty="0"/>
              <a:t>,  COUNT(</a:t>
            </a:r>
            <a:r>
              <a:rPr lang="en-US" sz="1200" dirty="0" err="1"/>
              <a:t>o.order_id</a:t>
            </a:r>
            <a:r>
              <a:rPr lang="en-US" sz="1200" dirty="0"/>
              <a:t>) AS </a:t>
            </a:r>
            <a:r>
              <a:rPr lang="en-US" sz="1200" dirty="0" err="1"/>
              <a:t>total_shipments</a:t>
            </a:r>
            <a:r>
              <a:rPr lang="en-US" sz="1200" dirty="0"/>
              <a:t>,  SUM(CASE WHEN </a:t>
            </a:r>
            <a:r>
              <a:rPr lang="en-US" sz="1200" dirty="0" err="1"/>
              <a:t>o.delivery_delay_days</a:t>
            </a:r>
            <a:r>
              <a:rPr lang="en-US" sz="1200" dirty="0"/>
              <a:t> IS NOT NULL AND </a:t>
            </a:r>
            <a:r>
              <a:rPr lang="en-US" sz="1200" dirty="0" err="1"/>
              <a:t>o.delivery_delay_days</a:t>
            </a:r>
            <a:r>
              <a:rPr lang="en-US" sz="1200" dirty="0"/>
              <a:t> &lt;= 0 THEN 1 ELSE 0 END) AS </a:t>
            </a:r>
            <a:r>
              <a:rPr lang="en-US" sz="1200" dirty="0" err="1"/>
              <a:t>ontime_count</a:t>
            </a:r>
            <a:r>
              <a:rPr lang="en-US" sz="1200" dirty="0"/>
              <a:t>,  ROUND(    100.0 * SUM(CASE WHEN </a:t>
            </a:r>
            <a:r>
              <a:rPr lang="en-US" sz="1200" dirty="0" err="1"/>
              <a:t>o.delivery_delay_days</a:t>
            </a:r>
            <a:r>
              <a:rPr lang="en-US" sz="1200" dirty="0"/>
              <a:t> IS NOT NULL AND </a:t>
            </a:r>
            <a:r>
              <a:rPr lang="en-US" sz="1200" dirty="0" err="1"/>
              <a:t>o.delivery_delay_days</a:t>
            </a:r>
            <a:r>
              <a:rPr lang="en-US" sz="1200" dirty="0"/>
              <a:t> &lt;= 0 THEN 1 ELSE 0 END)    / NULLIF(COUNT(</a:t>
            </a:r>
            <a:r>
              <a:rPr lang="en-US" sz="1200" dirty="0" err="1"/>
              <a:t>o.order_id</a:t>
            </a:r>
            <a:r>
              <a:rPr lang="en-US" sz="1200" dirty="0"/>
              <a:t>),0)  , 2) AS </a:t>
            </a:r>
            <a:r>
              <a:rPr lang="en-US" sz="1200" dirty="0" err="1"/>
              <a:t>ontime_pct</a:t>
            </a:r>
            <a:r>
              <a:rPr lang="en-US" sz="1200" dirty="0"/>
              <a:t>,  RANK() OVER (ORDER BY    ROUND(      100.0 * SUM(CASE WHEN </a:t>
            </a:r>
            <a:r>
              <a:rPr lang="en-US" sz="1200" dirty="0" err="1"/>
              <a:t>o.delivery_delay_days</a:t>
            </a:r>
            <a:r>
              <a:rPr lang="en-US" sz="1200" dirty="0"/>
              <a:t> IS NOT NULL AND </a:t>
            </a:r>
            <a:r>
              <a:rPr lang="en-US" sz="1200" dirty="0" err="1"/>
              <a:t>o.delivery_delay_days</a:t>
            </a:r>
            <a:r>
              <a:rPr lang="en-US" sz="1200" dirty="0"/>
              <a:t> &lt;= 0 THEN 1 ELSE 0 END)      / NULLIF(COUNT(</a:t>
            </a:r>
            <a:r>
              <a:rPr lang="en-US" sz="1200" dirty="0" err="1"/>
              <a:t>o.order_id</a:t>
            </a:r>
            <a:r>
              <a:rPr lang="en-US" sz="1200" dirty="0"/>
              <a:t>),0)    , 8) DESC) AS </a:t>
            </a:r>
            <a:r>
              <a:rPr lang="en-US" sz="1200" dirty="0" err="1"/>
              <a:t>ontime_rankFROM</a:t>
            </a:r>
            <a:r>
              <a:rPr lang="en-US" sz="1200" dirty="0"/>
              <a:t> Warehouses </a:t>
            </a:r>
            <a:r>
              <a:rPr lang="en-US" sz="1200" dirty="0" err="1"/>
              <a:t>wJOIN</a:t>
            </a:r>
            <a:r>
              <a:rPr lang="en-US" sz="1200" dirty="0"/>
              <a:t> </a:t>
            </a:r>
            <a:r>
              <a:rPr lang="en-US" sz="1200" dirty="0" err="1"/>
              <a:t>orders_clean</a:t>
            </a:r>
            <a:r>
              <a:rPr lang="en-US" sz="1200" dirty="0"/>
              <a:t> o ON </a:t>
            </a:r>
            <a:r>
              <a:rPr lang="en-US" sz="1200" dirty="0" err="1"/>
              <a:t>w.warehouse_id</a:t>
            </a:r>
            <a:r>
              <a:rPr lang="en-US" sz="1200" dirty="0"/>
              <a:t> = </a:t>
            </a:r>
            <a:r>
              <a:rPr lang="en-US" sz="1200" dirty="0" err="1"/>
              <a:t>o.warehouse_idGROUP</a:t>
            </a:r>
            <a:r>
              <a:rPr lang="en-US" sz="1200" dirty="0"/>
              <a:t> BY </a:t>
            </a:r>
            <a:r>
              <a:rPr lang="en-US" sz="1200" dirty="0" err="1"/>
              <a:t>w.warehouse_id</a:t>
            </a:r>
            <a:r>
              <a:rPr lang="en-US" sz="1200" dirty="0"/>
              <a:t>, </a:t>
            </a:r>
            <a:r>
              <a:rPr lang="en-US" sz="1200" dirty="0" err="1"/>
              <a:t>w.warehouse_nameORDER</a:t>
            </a:r>
            <a:r>
              <a:rPr lang="en-US" sz="1200" dirty="0"/>
              <a:t> BY </a:t>
            </a:r>
            <a:r>
              <a:rPr lang="en-US" sz="1200" dirty="0" err="1"/>
              <a:t>ontime_pct</a:t>
            </a:r>
            <a:r>
              <a:rPr lang="en-US" sz="1200" dirty="0"/>
              <a:t> DESC, </a:t>
            </a:r>
            <a:r>
              <a:rPr lang="en-US" sz="1200" dirty="0" err="1"/>
              <a:t>ontime_count</a:t>
            </a:r>
            <a:r>
              <a:rPr lang="en-US" sz="1200" dirty="0"/>
              <a:t> DESC;</a:t>
            </a:r>
            <a:endParaRPr lang="en-IN" sz="1200" dirty="0"/>
          </a:p>
        </p:txBody>
      </p:sp>
    </p:spTree>
    <p:extLst>
      <p:ext uri="{BB962C8B-B14F-4D97-AF65-F5344CB8AC3E}">
        <p14:creationId xmlns:p14="http://schemas.microsoft.com/office/powerpoint/2010/main" val="2555292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0EAD4-311D-81C8-3236-DA0022E46DD4}"/>
              </a:ext>
            </a:extLst>
          </p:cNvPr>
          <p:cNvSpPr>
            <a:spLocks noGrp="1"/>
          </p:cNvSpPr>
          <p:nvPr>
            <p:ph type="title"/>
          </p:nvPr>
        </p:nvSpPr>
        <p:spPr>
          <a:xfrm>
            <a:off x="838200" y="365125"/>
            <a:ext cx="10515600" cy="244475"/>
          </a:xfrm>
        </p:spPr>
        <p:txBody>
          <a:bodyPr>
            <a:normAutofit fontScale="90000"/>
          </a:bodyPr>
          <a:lstStyle/>
          <a:p>
            <a:r>
              <a:rPr lang="en-IN" dirty="0"/>
              <a:t>Resulting Table Task 4.1</a:t>
            </a:r>
          </a:p>
        </p:txBody>
      </p:sp>
      <p:graphicFrame>
        <p:nvGraphicFramePr>
          <p:cNvPr id="3" name="Object 2">
            <a:extLst>
              <a:ext uri="{FF2B5EF4-FFF2-40B4-BE49-F238E27FC236}">
                <a16:creationId xmlns:a16="http://schemas.microsoft.com/office/drawing/2014/main" id="{81D70C5C-E1B1-69DA-5330-6455AC09B310}"/>
              </a:ext>
            </a:extLst>
          </p:cNvPr>
          <p:cNvGraphicFramePr>
            <a:graphicFrameLocks noChangeAspect="1"/>
          </p:cNvGraphicFramePr>
          <p:nvPr>
            <p:extLst>
              <p:ext uri="{D42A27DB-BD31-4B8C-83A1-F6EECF244321}">
                <p14:modId xmlns:p14="http://schemas.microsoft.com/office/powerpoint/2010/main" val="425698331"/>
              </p:ext>
            </p:extLst>
          </p:nvPr>
        </p:nvGraphicFramePr>
        <p:xfrm>
          <a:off x="3419475" y="3055938"/>
          <a:ext cx="5353050" cy="742950"/>
        </p:xfrm>
        <a:graphic>
          <a:graphicData uri="http://schemas.openxmlformats.org/presentationml/2006/ole">
            <mc:AlternateContent xmlns:mc="http://schemas.openxmlformats.org/markup-compatibility/2006">
              <mc:Choice xmlns:v="urn:schemas-microsoft-com:vml" Requires="v">
                <p:oleObj name="Worksheet" r:id="rId2" imgW="5353038" imgH="742950" progId="Excel.Sheet.12">
                  <p:embed/>
                </p:oleObj>
              </mc:Choice>
              <mc:Fallback>
                <p:oleObj name="Worksheet" r:id="rId2" imgW="5353038" imgH="742950" progId="Excel.Sheet.12">
                  <p:embed/>
                  <p:pic>
                    <p:nvPicPr>
                      <p:cNvPr id="3" name="Object 2">
                        <a:extLst>
                          <a:ext uri="{FF2B5EF4-FFF2-40B4-BE49-F238E27FC236}">
                            <a16:creationId xmlns:a16="http://schemas.microsoft.com/office/drawing/2014/main" id="{81D70C5C-E1B1-69DA-5330-6455AC09B310}"/>
                          </a:ext>
                        </a:extLst>
                      </p:cNvPr>
                      <p:cNvPicPr/>
                      <p:nvPr/>
                    </p:nvPicPr>
                    <p:blipFill>
                      <a:blip r:embed="rId3"/>
                      <a:stretch>
                        <a:fillRect/>
                      </a:stretch>
                    </p:blipFill>
                    <p:spPr>
                      <a:xfrm>
                        <a:off x="3419475" y="3055938"/>
                        <a:ext cx="5353050" cy="742950"/>
                      </a:xfrm>
                      <a:prstGeom prst="rect">
                        <a:avLst/>
                      </a:prstGeom>
                    </p:spPr>
                  </p:pic>
                </p:oleObj>
              </mc:Fallback>
            </mc:AlternateContent>
          </a:graphicData>
        </a:graphic>
      </p:graphicFrame>
    </p:spTree>
    <p:extLst>
      <p:ext uri="{BB962C8B-B14F-4D97-AF65-F5344CB8AC3E}">
        <p14:creationId xmlns:p14="http://schemas.microsoft.com/office/powerpoint/2010/main" val="95173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9D80-E8D6-5641-9D1C-99AEA8B3ECD2}"/>
              </a:ext>
            </a:extLst>
          </p:cNvPr>
          <p:cNvSpPr>
            <a:spLocks noGrp="1"/>
          </p:cNvSpPr>
          <p:nvPr>
            <p:ph type="title"/>
          </p:nvPr>
        </p:nvSpPr>
        <p:spPr>
          <a:xfrm>
            <a:off x="838200" y="365125"/>
            <a:ext cx="10515600" cy="45719"/>
          </a:xfrm>
        </p:spPr>
        <p:txBody>
          <a:bodyPr>
            <a:normAutofit fontScale="90000"/>
          </a:bodyPr>
          <a:lstStyle/>
          <a:p>
            <a:r>
              <a:rPr lang="en-IN" dirty="0"/>
              <a:t>Resulting Table Task 4.2</a:t>
            </a:r>
          </a:p>
        </p:txBody>
      </p:sp>
      <p:graphicFrame>
        <p:nvGraphicFramePr>
          <p:cNvPr id="3" name="Object 2">
            <a:extLst>
              <a:ext uri="{FF2B5EF4-FFF2-40B4-BE49-F238E27FC236}">
                <a16:creationId xmlns:a16="http://schemas.microsoft.com/office/drawing/2014/main" id="{E3864BF9-E3BD-5704-E693-567E5AA049F8}"/>
              </a:ext>
            </a:extLst>
          </p:cNvPr>
          <p:cNvGraphicFramePr>
            <a:graphicFrameLocks noChangeAspect="1"/>
          </p:cNvGraphicFramePr>
          <p:nvPr>
            <p:extLst>
              <p:ext uri="{D42A27DB-BD31-4B8C-83A1-F6EECF244321}">
                <p14:modId xmlns:p14="http://schemas.microsoft.com/office/powerpoint/2010/main" val="3490872169"/>
              </p:ext>
            </p:extLst>
          </p:nvPr>
        </p:nvGraphicFramePr>
        <p:xfrm>
          <a:off x="3041650" y="2595563"/>
          <a:ext cx="6108700" cy="2198687"/>
        </p:xfrm>
        <a:graphic>
          <a:graphicData uri="http://schemas.openxmlformats.org/presentationml/2006/ole">
            <mc:AlternateContent xmlns:mc="http://schemas.openxmlformats.org/markup-compatibility/2006">
              <mc:Choice xmlns:v="urn:schemas-microsoft-com:vml" Requires="v">
                <p:oleObj name="Worksheet" r:id="rId2" imgW="6108626" imgH="2032175" progId="Excel.Sheet.12">
                  <p:embed/>
                </p:oleObj>
              </mc:Choice>
              <mc:Fallback>
                <p:oleObj name="Worksheet" r:id="rId2" imgW="6108626" imgH="2032175" progId="Excel.Sheet.12">
                  <p:embed/>
                  <p:pic>
                    <p:nvPicPr>
                      <p:cNvPr id="3" name="Object 2">
                        <a:extLst>
                          <a:ext uri="{FF2B5EF4-FFF2-40B4-BE49-F238E27FC236}">
                            <a16:creationId xmlns:a16="http://schemas.microsoft.com/office/drawing/2014/main" id="{E3864BF9-E3BD-5704-E693-567E5AA049F8}"/>
                          </a:ext>
                        </a:extLst>
                      </p:cNvPr>
                      <p:cNvPicPr/>
                      <p:nvPr/>
                    </p:nvPicPr>
                    <p:blipFill>
                      <a:blip r:embed="rId3"/>
                      <a:stretch>
                        <a:fillRect/>
                      </a:stretch>
                    </p:blipFill>
                    <p:spPr>
                      <a:xfrm>
                        <a:off x="3041650" y="2595563"/>
                        <a:ext cx="6108700" cy="2198687"/>
                      </a:xfrm>
                      <a:prstGeom prst="rect">
                        <a:avLst/>
                      </a:prstGeom>
                    </p:spPr>
                  </p:pic>
                </p:oleObj>
              </mc:Fallback>
            </mc:AlternateContent>
          </a:graphicData>
        </a:graphic>
      </p:graphicFrame>
    </p:spTree>
    <p:extLst>
      <p:ext uri="{BB962C8B-B14F-4D97-AF65-F5344CB8AC3E}">
        <p14:creationId xmlns:p14="http://schemas.microsoft.com/office/powerpoint/2010/main" val="633242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420B6-15FC-A49A-A27F-B3F8BD94516F}"/>
              </a:ext>
            </a:extLst>
          </p:cNvPr>
          <p:cNvSpPr>
            <a:spLocks noGrp="1"/>
          </p:cNvSpPr>
          <p:nvPr>
            <p:ph type="title"/>
          </p:nvPr>
        </p:nvSpPr>
        <p:spPr>
          <a:xfrm>
            <a:off x="838200" y="365125"/>
            <a:ext cx="10515600" cy="81189"/>
          </a:xfrm>
        </p:spPr>
        <p:txBody>
          <a:bodyPr>
            <a:normAutofit fontScale="90000"/>
          </a:bodyPr>
          <a:lstStyle/>
          <a:p>
            <a:r>
              <a:rPr lang="en-IN" dirty="0"/>
              <a:t>Resulting Table Task 4.3</a:t>
            </a:r>
          </a:p>
        </p:txBody>
      </p:sp>
      <p:graphicFrame>
        <p:nvGraphicFramePr>
          <p:cNvPr id="3" name="Object 2">
            <a:extLst>
              <a:ext uri="{FF2B5EF4-FFF2-40B4-BE49-F238E27FC236}">
                <a16:creationId xmlns:a16="http://schemas.microsoft.com/office/drawing/2014/main" id="{E2282C57-DBFA-4DA0-FD41-97A67783754E}"/>
              </a:ext>
            </a:extLst>
          </p:cNvPr>
          <p:cNvGraphicFramePr>
            <a:graphicFrameLocks noChangeAspect="1"/>
          </p:cNvGraphicFramePr>
          <p:nvPr>
            <p:extLst>
              <p:ext uri="{D42A27DB-BD31-4B8C-83A1-F6EECF244321}">
                <p14:modId xmlns:p14="http://schemas.microsoft.com/office/powerpoint/2010/main" val="486819468"/>
              </p:ext>
            </p:extLst>
          </p:nvPr>
        </p:nvGraphicFramePr>
        <p:xfrm>
          <a:off x="2536825" y="2779713"/>
          <a:ext cx="7118350" cy="1295400"/>
        </p:xfrm>
        <a:graphic>
          <a:graphicData uri="http://schemas.openxmlformats.org/presentationml/2006/ole">
            <mc:AlternateContent xmlns:mc="http://schemas.openxmlformats.org/markup-compatibility/2006">
              <mc:Choice xmlns:v="urn:schemas-microsoft-com:vml" Requires="v">
                <p:oleObj name="Worksheet" r:id="rId2" imgW="7118313" imgH="1295531" progId="Excel.Sheet.12">
                  <p:embed/>
                </p:oleObj>
              </mc:Choice>
              <mc:Fallback>
                <p:oleObj name="Worksheet" r:id="rId2" imgW="7118313" imgH="1295531" progId="Excel.Sheet.12">
                  <p:embed/>
                  <p:pic>
                    <p:nvPicPr>
                      <p:cNvPr id="3" name="Object 2">
                        <a:extLst>
                          <a:ext uri="{FF2B5EF4-FFF2-40B4-BE49-F238E27FC236}">
                            <a16:creationId xmlns:a16="http://schemas.microsoft.com/office/drawing/2014/main" id="{E2282C57-DBFA-4DA0-FD41-97A67783754E}"/>
                          </a:ext>
                        </a:extLst>
                      </p:cNvPr>
                      <p:cNvPicPr/>
                      <p:nvPr/>
                    </p:nvPicPr>
                    <p:blipFill>
                      <a:blip r:embed="rId3"/>
                      <a:stretch>
                        <a:fillRect/>
                      </a:stretch>
                    </p:blipFill>
                    <p:spPr>
                      <a:xfrm>
                        <a:off x="2536825" y="2779713"/>
                        <a:ext cx="7118350" cy="1295400"/>
                      </a:xfrm>
                      <a:prstGeom prst="rect">
                        <a:avLst/>
                      </a:prstGeom>
                    </p:spPr>
                  </p:pic>
                </p:oleObj>
              </mc:Fallback>
            </mc:AlternateContent>
          </a:graphicData>
        </a:graphic>
      </p:graphicFrame>
    </p:spTree>
    <p:extLst>
      <p:ext uri="{BB962C8B-B14F-4D97-AF65-F5344CB8AC3E}">
        <p14:creationId xmlns:p14="http://schemas.microsoft.com/office/powerpoint/2010/main" val="149857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14CA-3420-E2DD-09AE-1FCF90B4F597}"/>
              </a:ext>
            </a:extLst>
          </p:cNvPr>
          <p:cNvSpPr>
            <a:spLocks noGrp="1"/>
          </p:cNvSpPr>
          <p:nvPr>
            <p:ph type="title"/>
          </p:nvPr>
        </p:nvSpPr>
        <p:spPr>
          <a:xfrm>
            <a:off x="838200" y="365126"/>
            <a:ext cx="10515600" cy="70304"/>
          </a:xfrm>
        </p:spPr>
        <p:txBody>
          <a:bodyPr>
            <a:normAutofit fontScale="90000"/>
          </a:bodyPr>
          <a:lstStyle/>
          <a:p>
            <a:r>
              <a:rPr lang="en-IN" dirty="0"/>
              <a:t>Resulting Table Task 4.4</a:t>
            </a:r>
          </a:p>
        </p:txBody>
      </p:sp>
      <p:graphicFrame>
        <p:nvGraphicFramePr>
          <p:cNvPr id="3" name="Object 2">
            <a:extLst>
              <a:ext uri="{FF2B5EF4-FFF2-40B4-BE49-F238E27FC236}">
                <a16:creationId xmlns:a16="http://schemas.microsoft.com/office/drawing/2014/main" id="{D8853657-024B-48B5-8F77-32EF6DB79C70}"/>
              </a:ext>
            </a:extLst>
          </p:cNvPr>
          <p:cNvGraphicFramePr>
            <a:graphicFrameLocks noChangeAspect="1"/>
          </p:cNvGraphicFramePr>
          <p:nvPr>
            <p:extLst>
              <p:ext uri="{D42A27DB-BD31-4B8C-83A1-F6EECF244321}">
                <p14:modId xmlns:p14="http://schemas.microsoft.com/office/powerpoint/2010/main" val="2277354120"/>
              </p:ext>
            </p:extLst>
          </p:nvPr>
        </p:nvGraphicFramePr>
        <p:xfrm>
          <a:off x="2847975" y="2411413"/>
          <a:ext cx="6496050" cy="2032000"/>
        </p:xfrm>
        <a:graphic>
          <a:graphicData uri="http://schemas.openxmlformats.org/presentationml/2006/ole">
            <mc:AlternateContent xmlns:mc="http://schemas.openxmlformats.org/markup-compatibility/2006">
              <mc:Choice xmlns:v="urn:schemas-microsoft-com:vml" Requires="v">
                <p:oleObj name="Worksheet" r:id="rId2" imgW="6496087" imgH="2032175" progId="Excel.Sheet.12">
                  <p:embed/>
                </p:oleObj>
              </mc:Choice>
              <mc:Fallback>
                <p:oleObj name="Worksheet" r:id="rId2" imgW="6496087" imgH="2032175" progId="Excel.Sheet.12">
                  <p:embed/>
                  <p:pic>
                    <p:nvPicPr>
                      <p:cNvPr id="3" name="Object 2">
                        <a:extLst>
                          <a:ext uri="{FF2B5EF4-FFF2-40B4-BE49-F238E27FC236}">
                            <a16:creationId xmlns:a16="http://schemas.microsoft.com/office/drawing/2014/main" id="{D8853657-024B-48B5-8F77-32EF6DB79C70}"/>
                          </a:ext>
                        </a:extLst>
                      </p:cNvPr>
                      <p:cNvPicPr/>
                      <p:nvPr/>
                    </p:nvPicPr>
                    <p:blipFill>
                      <a:blip r:embed="rId3"/>
                      <a:stretch>
                        <a:fillRect/>
                      </a:stretch>
                    </p:blipFill>
                    <p:spPr>
                      <a:xfrm>
                        <a:off x="2847975" y="2411413"/>
                        <a:ext cx="6496050" cy="2032000"/>
                      </a:xfrm>
                      <a:prstGeom prst="rect">
                        <a:avLst/>
                      </a:prstGeom>
                    </p:spPr>
                  </p:pic>
                </p:oleObj>
              </mc:Fallback>
            </mc:AlternateContent>
          </a:graphicData>
        </a:graphic>
      </p:graphicFrame>
    </p:spTree>
    <p:extLst>
      <p:ext uri="{BB962C8B-B14F-4D97-AF65-F5344CB8AC3E}">
        <p14:creationId xmlns:p14="http://schemas.microsoft.com/office/powerpoint/2010/main" val="2202509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01FD-B835-EC30-ED70-C23ACBD8B4AD}"/>
              </a:ext>
            </a:extLst>
          </p:cNvPr>
          <p:cNvSpPr>
            <a:spLocks noGrp="1"/>
          </p:cNvSpPr>
          <p:nvPr>
            <p:ph type="ctrTitle"/>
          </p:nvPr>
        </p:nvSpPr>
        <p:spPr>
          <a:xfrm>
            <a:off x="1524000" y="272143"/>
            <a:ext cx="9144000" cy="712334"/>
          </a:xfrm>
        </p:spPr>
        <p:txBody>
          <a:bodyPr>
            <a:normAutofit fontScale="90000"/>
          </a:bodyPr>
          <a:lstStyle/>
          <a:p>
            <a:pPr algn="l"/>
            <a:r>
              <a:rPr lang="en-US" sz="4400" dirty="0"/>
              <a:t>Task 5: Delivery Agent Performance</a:t>
            </a:r>
            <a:endParaRPr lang="en-IN" sz="4400" dirty="0"/>
          </a:p>
        </p:txBody>
      </p:sp>
      <p:sp>
        <p:nvSpPr>
          <p:cNvPr id="3" name="Subtitle 2">
            <a:extLst>
              <a:ext uri="{FF2B5EF4-FFF2-40B4-BE49-F238E27FC236}">
                <a16:creationId xmlns:a16="http://schemas.microsoft.com/office/drawing/2014/main" id="{26F5F899-002C-F3A8-A672-708E032D9F77}"/>
              </a:ext>
            </a:extLst>
          </p:cNvPr>
          <p:cNvSpPr>
            <a:spLocks noGrp="1"/>
          </p:cNvSpPr>
          <p:nvPr>
            <p:ph type="subTitle" idx="1"/>
          </p:nvPr>
        </p:nvSpPr>
        <p:spPr>
          <a:xfrm>
            <a:off x="1524000" y="1077685"/>
            <a:ext cx="9144000" cy="5508171"/>
          </a:xfrm>
        </p:spPr>
        <p:txBody>
          <a:bodyPr>
            <a:normAutofit fontScale="55000" lnSpcReduction="20000"/>
          </a:bodyPr>
          <a:lstStyle/>
          <a:p>
            <a:pPr marL="342900" indent="-342900" algn="l">
              <a:buFont typeface="Arial" panose="020B0604020202020204" pitchFamily="34" charset="0"/>
              <a:buChar char="•"/>
            </a:pPr>
            <a:r>
              <a:rPr lang="en-IN" b="1" dirty="0"/>
              <a:t>Task 5.1 - </a:t>
            </a:r>
            <a:r>
              <a:rPr lang="en-US" b="1" dirty="0"/>
              <a:t>Rank agents (per route) by on-time delivery percentage.</a:t>
            </a:r>
          </a:p>
          <a:p>
            <a:pPr marL="342900" indent="-342900" algn="l">
              <a:buFont typeface="Arial" panose="020B0604020202020204" pitchFamily="34" charset="0"/>
              <a:buChar char="•"/>
            </a:pPr>
            <a:r>
              <a:rPr lang="en-US" b="1" dirty="0"/>
              <a:t>Query</a:t>
            </a:r>
            <a:r>
              <a:rPr lang="en-US" dirty="0"/>
              <a:t> - WITH </a:t>
            </a:r>
            <a:r>
              <a:rPr lang="en-US" dirty="0" err="1"/>
              <a:t>agent_route_stats</a:t>
            </a:r>
            <a:r>
              <a:rPr lang="en-US" dirty="0"/>
              <a:t> AS (    SELECT        </a:t>
            </a:r>
            <a:r>
              <a:rPr lang="en-US" dirty="0" err="1"/>
              <a:t>o.route_id</a:t>
            </a:r>
            <a:r>
              <a:rPr lang="en-US" dirty="0"/>
              <a:t>,        </a:t>
            </a:r>
            <a:r>
              <a:rPr lang="en-US" dirty="0" err="1"/>
              <a:t>o.agent_id</a:t>
            </a:r>
            <a:r>
              <a:rPr lang="en-US" dirty="0"/>
              <a:t>,        </a:t>
            </a:r>
            <a:r>
              <a:rPr lang="en-US" dirty="0" err="1"/>
              <a:t>a.agent_name</a:t>
            </a:r>
            <a:r>
              <a:rPr lang="en-US" dirty="0"/>
              <a:t>,        COUNT(</a:t>
            </a:r>
            <a:r>
              <a:rPr lang="en-US" dirty="0" err="1"/>
              <a:t>o.order_id</a:t>
            </a:r>
            <a:r>
              <a:rPr lang="en-US" dirty="0"/>
              <a:t>) AS </a:t>
            </a:r>
            <a:r>
              <a:rPr lang="en-US" dirty="0" err="1"/>
              <a:t>total_deliveries</a:t>
            </a:r>
            <a:r>
              <a:rPr lang="en-US" dirty="0"/>
              <a:t>,        SUM(</a:t>
            </a:r>
            <a:r>
              <a:rPr lang="en-US" dirty="0" err="1"/>
              <a:t>o.delivery_delay_days</a:t>
            </a:r>
            <a:r>
              <a:rPr lang="en-US" dirty="0"/>
              <a:t> &lt;= 0) AS </a:t>
            </a:r>
            <a:r>
              <a:rPr lang="en-US" dirty="0" err="1"/>
              <a:t>ontime_deliveries</a:t>
            </a:r>
            <a:r>
              <a:rPr lang="en-US" dirty="0"/>
              <a:t>,        ROUND(            100.0 * SUM(</a:t>
            </a:r>
            <a:r>
              <a:rPr lang="en-US" dirty="0" err="1"/>
              <a:t>o.delivery_delay_days</a:t>
            </a:r>
            <a:r>
              <a:rPr lang="en-US" dirty="0"/>
              <a:t> &lt;= 0) / NULLIF(COUNT(</a:t>
            </a:r>
            <a:r>
              <a:rPr lang="en-US" dirty="0" err="1"/>
              <a:t>o.order_id</a:t>
            </a:r>
            <a:r>
              <a:rPr lang="en-US" dirty="0"/>
              <a:t>),0),            2        ) AS </a:t>
            </a:r>
            <a:r>
              <a:rPr lang="en-US" dirty="0" err="1"/>
              <a:t>ontime_pct</a:t>
            </a:r>
            <a:r>
              <a:rPr lang="en-US" dirty="0"/>
              <a:t>    FROM </a:t>
            </a:r>
            <a:r>
              <a:rPr lang="en-US" dirty="0" err="1"/>
              <a:t>orders_clean</a:t>
            </a:r>
            <a:r>
              <a:rPr lang="en-US" dirty="0"/>
              <a:t> o    JOIN </a:t>
            </a:r>
            <a:r>
              <a:rPr lang="en-US" dirty="0" err="1"/>
              <a:t>Delivery_Agents</a:t>
            </a:r>
            <a:r>
              <a:rPr lang="en-US" dirty="0"/>
              <a:t> a ON </a:t>
            </a:r>
            <a:r>
              <a:rPr lang="en-US" dirty="0" err="1"/>
              <a:t>o.agent_id</a:t>
            </a:r>
            <a:r>
              <a:rPr lang="en-US" dirty="0"/>
              <a:t> = </a:t>
            </a:r>
            <a:r>
              <a:rPr lang="en-US" dirty="0" err="1"/>
              <a:t>a.agent_id</a:t>
            </a:r>
            <a:r>
              <a:rPr lang="en-US" dirty="0"/>
              <a:t>    WHERE </a:t>
            </a:r>
            <a:r>
              <a:rPr lang="en-US" dirty="0" err="1"/>
              <a:t>o.delivery_delay_days</a:t>
            </a:r>
            <a:r>
              <a:rPr lang="en-US" dirty="0"/>
              <a:t> IS NOT NULL    GROUP BY </a:t>
            </a:r>
            <a:r>
              <a:rPr lang="en-US" dirty="0" err="1"/>
              <a:t>o.route_id</a:t>
            </a:r>
            <a:r>
              <a:rPr lang="en-US" dirty="0"/>
              <a:t>, </a:t>
            </a:r>
            <a:r>
              <a:rPr lang="en-US" dirty="0" err="1"/>
              <a:t>o.agent_id</a:t>
            </a:r>
            <a:r>
              <a:rPr lang="en-US" dirty="0"/>
              <a:t>, </a:t>
            </a:r>
            <a:r>
              <a:rPr lang="en-US" dirty="0" err="1"/>
              <a:t>a.agent_name</a:t>
            </a:r>
            <a:r>
              <a:rPr lang="en-US" dirty="0"/>
              <a:t>)SELECT    </a:t>
            </a:r>
            <a:r>
              <a:rPr lang="en-US" dirty="0" err="1"/>
              <a:t>route_id</a:t>
            </a:r>
            <a:r>
              <a:rPr lang="en-US" dirty="0"/>
              <a:t>,    </a:t>
            </a:r>
            <a:r>
              <a:rPr lang="en-US" dirty="0" err="1"/>
              <a:t>agent_id</a:t>
            </a:r>
            <a:r>
              <a:rPr lang="en-US" dirty="0"/>
              <a:t>,    </a:t>
            </a:r>
            <a:r>
              <a:rPr lang="en-US" dirty="0" err="1"/>
              <a:t>agent_name</a:t>
            </a:r>
            <a:r>
              <a:rPr lang="en-US" dirty="0"/>
              <a:t>,    </a:t>
            </a:r>
            <a:r>
              <a:rPr lang="en-US" dirty="0" err="1"/>
              <a:t>total_deliveries</a:t>
            </a:r>
            <a:r>
              <a:rPr lang="en-US" dirty="0"/>
              <a:t>,    </a:t>
            </a:r>
            <a:r>
              <a:rPr lang="en-US" dirty="0" err="1"/>
              <a:t>ontime_deliveries</a:t>
            </a:r>
            <a:r>
              <a:rPr lang="en-US" dirty="0"/>
              <a:t>,    </a:t>
            </a:r>
            <a:r>
              <a:rPr lang="en-US" dirty="0" err="1"/>
              <a:t>ontime_pct</a:t>
            </a:r>
            <a:r>
              <a:rPr lang="en-US" dirty="0"/>
              <a:t>,    RANK() OVER (PARTITION BY </a:t>
            </a:r>
            <a:r>
              <a:rPr lang="en-US" dirty="0" err="1"/>
              <a:t>route_id</a:t>
            </a:r>
            <a:r>
              <a:rPr lang="en-US" dirty="0"/>
              <a:t> ORDER BY </a:t>
            </a:r>
            <a:r>
              <a:rPr lang="en-US" dirty="0" err="1"/>
              <a:t>ontime_pct</a:t>
            </a:r>
            <a:r>
              <a:rPr lang="en-US" dirty="0"/>
              <a:t> DESC) AS </a:t>
            </a:r>
            <a:r>
              <a:rPr lang="en-US" dirty="0" err="1"/>
              <a:t>agent_rank_within_routeFROM</a:t>
            </a:r>
            <a:r>
              <a:rPr lang="en-US" dirty="0"/>
              <a:t> </a:t>
            </a:r>
            <a:r>
              <a:rPr lang="en-US" dirty="0" err="1"/>
              <a:t>agent_route_statsORDER</a:t>
            </a:r>
            <a:r>
              <a:rPr lang="en-US" dirty="0"/>
              <a:t> BY </a:t>
            </a:r>
            <a:r>
              <a:rPr lang="en-US" dirty="0" err="1"/>
              <a:t>route_id</a:t>
            </a:r>
            <a:r>
              <a:rPr lang="en-US" dirty="0"/>
              <a:t>, </a:t>
            </a:r>
            <a:r>
              <a:rPr lang="en-US" dirty="0" err="1"/>
              <a:t>agent_rank_within_route</a:t>
            </a:r>
            <a:r>
              <a:rPr lang="en-US" dirty="0"/>
              <a:t>;</a:t>
            </a:r>
          </a:p>
          <a:p>
            <a:pPr marL="342900" indent="-342900" algn="l">
              <a:buFont typeface="Arial" panose="020B0604020202020204" pitchFamily="34" charset="0"/>
              <a:buChar char="•"/>
            </a:pPr>
            <a:r>
              <a:rPr lang="en-US" b="1" dirty="0"/>
              <a:t>Task 5.2 – Find agents with on-time % &lt; 80%. </a:t>
            </a:r>
          </a:p>
          <a:p>
            <a:pPr marL="342900" indent="-342900" algn="l">
              <a:buFont typeface="Arial" panose="020B0604020202020204" pitchFamily="34" charset="0"/>
              <a:buChar char="•"/>
            </a:pPr>
            <a:r>
              <a:rPr lang="en-US" b="1" dirty="0"/>
              <a:t>Query</a:t>
            </a:r>
            <a:r>
              <a:rPr lang="en-US" dirty="0"/>
              <a:t> - SELECT  </a:t>
            </a:r>
            <a:r>
              <a:rPr lang="en-US" dirty="0" err="1"/>
              <a:t>a.agent_id</a:t>
            </a:r>
            <a:r>
              <a:rPr lang="en-US" dirty="0"/>
              <a:t>,  </a:t>
            </a:r>
            <a:r>
              <a:rPr lang="en-US" dirty="0" err="1"/>
              <a:t>a.agent_name</a:t>
            </a:r>
            <a:r>
              <a:rPr lang="en-US" dirty="0"/>
              <a:t>,  COUNT(</a:t>
            </a:r>
            <a:r>
              <a:rPr lang="en-US" dirty="0" err="1"/>
              <a:t>o.order_id</a:t>
            </a:r>
            <a:r>
              <a:rPr lang="en-US" dirty="0"/>
              <a:t>) AS </a:t>
            </a:r>
            <a:r>
              <a:rPr lang="en-US" dirty="0" err="1"/>
              <a:t>total_deliveries</a:t>
            </a:r>
            <a:r>
              <a:rPr lang="en-US" dirty="0"/>
              <a:t>,  SUM(CASE WHEN </a:t>
            </a:r>
            <a:r>
              <a:rPr lang="en-US" dirty="0" err="1"/>
              <a:t>o.delivery_delay_days</a:t>
            </a:r>
            <a:r>
              <a:rPr lang="en-US" dirty="0"/>
              <a:t> IS NOT NULL AND </a:t>
            </a:r>
            <a:r>
              <a:rPr lang="en-US" dirty="0" err="1"/>
              <a:t>o.delivery_delay_days</a:t>
            </a:r>
            <a:r>
              <a:rPr lang="en-US" dirty="0"/>
              <a:t> &lt;= 0 THEN 1 ELSE 0 END) AS </a:t>
            </a:r>
            <a:r>
              <a:rPr lang="en-US" dirty="0" err="1"/>
              <a:t>ontime_deliveries</a:t>
            </a:r>
            <a:r>
              <a:rPr lang="en-US" dirty="0"/>
              <a:t>,  ROUND(100.0 * SUM(CASE WHEN </a:t>
            </a:r>
            <a:r>
              <a:rPr lang="en-US" dirty="0" err="1"/>
              <a:t>o.delivery_delay_days</a:t>
            </a:r>
            <a:r>
              <a:rPr lang="en-US" dirty="0"/>
              <a:t> IS NOT NULL AND </a:t>
            </a:r>
            <a:r>
              <a:rPr lang="en-US" dirty="0" err="1"/>
              <a:t>o.delivery_delay_days</a:t>
            </a:r>
            <a:r>
              <a:rPr lang="en-US" dirty="0"/>
              <a:t> &lt;= 0 THEN 1 ELSE 0 END)         / NULLIF(COUNT(</a:t>
            </a:r>
            <a:r>
              <a:rPr lang="en-US" dirty="0" err="1"/>
              <a:t>o.order_id</a:t>
            </a:r>
            <a:r>
              <a:rPr lang="en-US" dirty="0"/>
              <a:t>),0), 2)      AS </a:t>
            </a:r>
            <a:r>
              <a:rPr lang="en-US" dirty="0" err="1"/>
              <a:t>ontime_pctFROM</a:t>
            </a:r>
            <a:r>
              <a:rPr lang="en-US" dirty="0"/>
              <a:t> </a:t>
            </a:r>
            <a:r>
              <a:rPr lang="en-US" dirty="0" err="1"/>
              <a:t>Delivery_Agents</a:t>
            </a:r>
            <a:r>
              <a:rPr lang="en-US" dirty="0"/>
              <a:t> </a:t>
            </a:r>
            <a:r>
              <a:rPr lang="en-US" dirty="0" err="1"/>
              <a:t>aLEFT</a:t>
            </a:r>
            <a:r>
              <a:rPr lang="en-US" dirty="0"/>
              <a:t> JOIN </a:t>
            </a:r>
            <a:r>
              <a:rPr lang="en-US" dirty="0" err="1"/>
              <a:t>orders_clean</a:t>
            </a:r>
            <a:r>
              <a:rPr lang="en-US" dirty="0"/>
              <a:t> o ON </a:t>
            </a:r>
            <a:r>
              <a:rPr lang="en-US" dirty="0" err="1"/>
              <a:t>a.agent_id</a:t>
            </a:r>
            <a:r>
              <a:rPr lang="en-US" dirty="0"/>
              <a:t> = </a:t>
            </a:r>
            <a:r>
              <a:rPr lang="en-US" dirty="0" err="1"/>
              <a:t>o.agent_idGROUP</a:t>
            </a:r>
            <a:r>
              <a:rPr lang="en-US" dirty="0"/>
              <a:t> BY </a:t>
            </a:r>
            <a:r>
              <a:rPr lang="en-US" dirty="0" err="1"/>
              <a:t>a.agent_id</a:t>
            </a:r>
            <a:r>
              <a:rPr lang="en-US" dirty="0"/>
              <a:t>, </a:t>
            </a:r>
            <a:r>
              <a:rPr lang="en-US" dirty="0" err="1"/>
              <a:t>a.agent_nameHAVING</a:t>
            </a:r>
            <a:r>
              <a:rPr lang="en-US" dirty="0"/>
              <a:t> </a:t>
            </a:r>
            <a:r>
              <a:rPr lang="en-US" dirty="0" err="1"/>
              <a:t>ontime_pct</a:t>
            </a:r>
            <a:r>
              <a:rPr lang="en-US" dirty="0"/>
              <a:t> &lt; 80ORDER BY </a:t>
            </a:r>
            <a:r>
              <a:rPr lang="en-US" dirty="0" err="1"/>
              <a:t>ontime_pct</a:t>
            </a:r>
            <a:r>
              <a:rPr lang="en-US" dirty="0"/>
              <a:t> ASC, </a:t>
            </a:r>
            <a:r>
              <a:rPr lang="en-US" dirty="0" err="1"/>
              <a:t>total_deliveries</a:t>
            </a:r>
            <a:r>
              <a:rPr lang="en-US" dirty="0"/>
              <a:t> DESC;</a:t>
            </a:r>
          </a:p>
          <a:p>
            <a:pPr marL="342900" indent="-342900" algn="l">
              <a:buFont typeface="Arial" panose="020B0604020202020204" pitchFamily="34" charset="0"/>
              <a:buChar char="•"/>
            </a:pPr>
            <a:r>
              <a:rPr lang="en-US" b="1" dirty="0"/>
              <a:t>Task 5.3 –  Compare average speed of top 5 vs bottom 5 agents using subqueries. </a:t>
            </a:r>
          </a:p>
          <a:p>
            <a:pPr marL="342900" indent="-342900" algn="l">
              <a:buFont typeface="Arial" panose="020B0604020202020204" pitchFamily="34" charset="0"/>
              <a:buChar char="•"/>
            </a:pPr>
            <a:r>
              <a:rPr lang="en-US" b="1" dirty="0"/>
              <a:t>Query</a:t>
            </a:r>
            <a:r>
              <a:rPr lang="en-US" dirty="0"/>
              <a:t> - WITH </a:t>
            </a:r>
            <a:r>
              <a:rPr lang="en-US" dirty="0" err="1"/>
              <a:t>agent_scores</a:t>
            </a:r>
            <a:r>
              <a:rPr lang="en-US" dirty="0"/>
              <a:t> AS (  SELECT    </a:t>
            </a:r>
            <a:r>
              <a:rPr lang="en-US" dirty="0" err="1"/>
              <a:t>a.agent_id</a:t>
            </a:r>
            <a:r>
              <a:rPr lang="en-US" dirty="0"/>
              <a:t>,    </a:t>
            </a:r>
            <a:r>
              <a:rPr lang="en-US" dirty="0" err="1"/>
              <a:t>a.agent_name</a:t>
            </a:r>
            <a:r>
              <a:rPr lang="en-US" dirty="0"/>
              <a:t>,    </a:t>
            </a:r>
            <a:r>
              <a:rPr lang="en-US" dirty="0" err="1"/>
              <a:t>a.avg_speed_kmph</a:t>
            </a:r>
            <a:r>
              <a:rPr lang="en-US" dirty="0"/>
              <a:t>,  -- assumes this column exists in </a:t>
            </a:r>
            <a:r>
              <a:rPr lang="en-US" dirty="0" err="1"/>
              <a:t>Delivery_Agents</a:t>
            </a:r>
            <a:r>
              <a:rPr lang="en-US" dirty="0"/>
              <a:t>    COUNT(</a:t>
            </a:r>
            <a:r>
              <a:rPr lang="en-US" dirty="0" err="1"/>
              <a:t>o.order_id</a:t>
            </a:r>
            <a:r>
              <a:rPr lang="en-US" dirty="0"/>
              <a:t>) AS </a:t>
            </a:r>
            <a:r>
              <a:rPr lang="en-US" dirty="0" err="1"/>
              <a:t>total_deliveries</a:t>
            </a:r>
            <a:r>
              <a:rPr lang="en-US" dirty="0"/>
              <a:t>,    ROUND(      100.0 * SUM(CASE WHEN </a:t>
            </a:r>
            <a:r>
              <a:rPr lang="en-US" dirty="0" err="1"/>
              <a:t>o.delivery_delay_days</a:t>
            </a:r>
            <a:r>
              <a:rPr lang="en-US" dirty="0"/>
              <a:t> IS NOT NULL AND </a:t>
            </a:r>
            <a:r>
              <a:rPr lang="en-US" dirty="0" err="1"/>
              <a:t>o.delivery_delay_days</a:t>
            </a:r>
            <a:r>
              <a:rPr lang="en-US" dirty="0"/>
              <a:t> &lt;= 0 THEN 1 ELSE 0 END)       / NULLIF(COUNT(</a:t>
            </a:r>
            <a:r>
              <a:rPr lang="en-US" dirty="0" err="1"/>
              <a:t>o.order_id</a:t>
            </a:r>
            <a:r>
              <a:rPr lang="en-US" dirty="0"/>
              <a:t>),0), 2    ) AS </a:t>
            </a:r>
            <a:r>
              <a:rPr lang="en-US" dirty="0" err="1"/>
              <a:t>ontime_pct</a:t>
            </a:r>
            <a:r>
              <a:rPr lang="en-US" dirty="0"/>
              <a:t>  FROM </a:t>
            </a:r>
            <a:r>
              <a:rPr lang="en-US" dirty="0" err="1"/>
              <a:t>Delivery_Agents</a:t>
            </a:r>
            <a:r>
              <a:rPr lang="en-US" dirty="0"/>
              <a:t> a  LEFT JOIN </a:t>
            </a:r>
            <a:r>
              <a:rPr lang="en-US" dirty="0" err="1"/>
              <a:t>orders_clean</a:t>
            </a:r>
            <a:r>
              <a:rPr lang="en-US" dirty="0"/>
              <a:t> o ON </a:t>
            </a:r>
            <a:r>
              <a:rPr lang="en-US" dirty="0" err="1"/>
              <a:t>a.agent_id</a:t>
            </a:r>
            <a:r>
              <a:rPr lang="en-US" dirty="0"/>
              <a:t> = </a:t>
            </a:r>
            <a:r>
              <a:rPr lang="en-US" dirty="0" err="1"/>
              <a:t>o.agent_id</a:t>
            </a:r>
            <a:r>
              <a:rPr lang="en-US" dirty="0"/>
              <a:t>  GROUP BY </a:t>
            </a:r>
            <a:r>
              <a:rPr lang="en-US" dirty="0" err="1"/>
              <a:t>a.agent_id</a:t>
            </a:r>
            <a:r>
              <a:rPr lang="en-US" dirty="0"/>
              <a:t>, </a:t>
            </a:r>
            <a:r>
              <a:rPr lang="en-US" dirty="0" err="1"/>
              <a:t>a.agent_name</a:t>
            </a:r>
            <a:r>
              <a:rPr lang="en-US" dirty="0"/>
              <a:t>, </a:t>
            </a:r>
            <a:r>
              <a:rPr lang="en-US" dirty="0" err="1"/>
              <a:t>a.avg_speed_kmph</a:t>
            </a:r>
            <a:r>
              <a:rPr lang="en-US" dirty="0"/>
              <a:t>)SELECT grp, </a:t>
            </a:r>
            <a:r>
              <a:rPr lang="en-US" dirty="0" err="1"/>
              <a:t>avg_speed_kmph</a:t>
            </a:r>
            <a:r>
              <a:rPr lang="en-US" dirty="0"/>
              <a:t>, </a:t>
            </a:r>
            <a:r>
              <a:rPr lang="en-US" dirty="0" err="1"/>
              <a:t>n_agentsFROM</a:t>
            </a:r>
            <a:r>
              <a:rPr lang="en-US" dirty="0"/>
              <a:t> (  SELECT 'top5' AS grp,         ROUND(AVG(</a:t>
            </a:r>
            <a:r>
              <a:rPr lang="en-US" dirty="0" err="1"/>
              <a:t>s.avg_speed_kmph</a:t>
            </a:r>
            <a:r>
              <a:rPr lang="en-US" dirty="0"/>
              <a:t>), 2) AS </a:t>
            </a:r>
            <a:r>
              <a:rPr lang="en-US" dirty="0" err="1"/>
              <a:t>avg_speed_kmph</a:t>
            </a:r>
            <a:r>
              <a:rPr lang="en-US" dirty="0"/>
              <a:t>,         COUNT(*) AS </a:t>
            </a:r>
            <a:r>
              <a:rPr lang="en-US" dirty="0" err="1"/>
              <a:t>n_agents</a:t>
            </a:r>
            <a:r>
              <a:rPr lang="en-US" dirty="0"/>
              <a:t>  FROM (    SELECT *     FROM </a:t>
            </a:r>
            <a:r>
              <a:rPr lang="en-US" dirty="0" err="1"/>
              <a:t>agent_scores</a:t>
            </a:r>
            <a:r>
              <a:rPr lang="en-US" dirty="0"/>
              <a:t>    WHERE </a:t>
            </a:r>
            <a:r>
              <a:rPr lang="en-US" dirty="0" err="1"/>
              <a:t>avg_speed_kmph</a:t>
            </a:r>
            <a:r>
              <a:rPr lang="en-US" dirty="0"/>
              <a:t> IS NOT NULL    ORDER BY </a:t>
            </a:r>
            <a:r>
              <a:rPr lang="en-US" dirty="0" err="1"/>
              <a:t>ontime_pct</a:t>
            </a:r>
            <a:r>
              <a:rPr lang="en-US" dirty="0"/>
              <a:t> DESC, </a:t>
            </a:r>
            <a:r>
              <a:rPr lang="en-US" dirty="0" err="1"/>
              <a:t>total_deliveries</a:t>
            </a:r>
            <a:r>
              <a:rPr lang="en-US" dirty="0"/>
              <a:t> DESC    LIMIT 5  ) s  UNION ALLSELECT 'bottom5' AS grp,         ROUND(AVG(</a:t>
            </a:r>
            <a:r>
              <a:rPr lang="en-US" dirty="0" err="1"/>
              <a:t>s.avg_speed_kmph</a:t>
            </a:r>
            <a:r>
              <a:rPr lang="en-US" dirty="0"/>
              <a:t>), 2) AS </a:t>
            </a:r>
            <a:r>
              <a:rPr lang="en-US" dirty="0" err="1"/>
              <a:t>avg_speed_kmph</a:t>
            </a:r>
            <a:r>
              <a:rPr lang="en-US" dirty="0"/>
              <a:t>,         COUNT(*) AS </a:t>
            </a:r>
            <a:r>
              <a:rPr lang="en-US" dirty="0" err="1"/>
              <a:t>n_agents</a:t>
            </a:r>
            <a:r>
              <a:rPr lang="en-US" dirty="0"/>
              <a:t>  FROM (    SELECT *    FROM </a:t>
            </a:r>
            <a:r>
              <a:rPr lang="en-US" dirty="0" err="1"/>
              <a:t>agent_scores</a:t>
            </a:r>
            <a:r>
              <a:rPr lang="en-US" dirty="0"/>
              <a:t>    WHERE </a:t>
            </a:r>
            <a:r>
              <a:rPr lang="en-US" dirty="0" err="1"/>
              <a:t>avg_speed_kmph</a:t>
            </a:r>
            <a:r>
              <a:rPr lang="en-US" dirty="0"/>
              <a:t> IS NOT NULL    ORDER BY </a:t>
            </a:r>
            <a:r>
              <a:rPr lang="en-US" dirty="0" err="1"/>
              <a:t>ontime_pct</a:t>
            </a:r>
            <a:r>
              <a:rPr lang="en-US" dirty="0"/>
              <a:t> ASC, </a:t>
            </a:r>
            <a:r>
              <a:rPr lang="en-US" dirty="0" err="1"/>
              <a:t>total_deliveries</a:t>
            </a:r>
            <a:r>
              <a:rPr lang="en-US" dirty="0"/>
              <a:t> DESC    LIMIT 5  ) s) t;</a:t>
            </a:r>
            <a:endParaRPr lang="en-IN" dirty="0"/>
          </a:p>
        </p:txBody>
      </p:sp>
    </p:spTree>
    <p:extLst>
      <p:ext uri="{BB962C8B-B14F-4D97-AF65-F5344CB8AC3E}">
        <p14:creationId xmlns:p14="http://schemas.microsoft.com/office/powerpoint/2010/main" val="156269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86C5-40B5-CE59-4E33-EC08FFC680BF}"/>
              </a:ext>
            </a:extLst>
          </p:cNvPr>
          <p:cNvSpPr>
            <a:spLocks noGrp="1"/>
          </p:cNvSpPr>
          <p:nvPr>
            <p:ph type="title"/>
          </p:nvPr>
        </p:nvSpPr>
        <p:spPr>
          <a:xfrm>
            <a:off x="838200" y="365126"/>
            <a:ext cx="10515600" cy="124732"/>
          </a:xfrm>
        </p:spPr>
        <p:txBody>
          <a:bodyPr>
            <a:normAutofit fontScale="90000"/>
          </a:bodyPr>
          <a:lstStyle/>
          <a:p>
            <a:r>
              <a:rPr lang="en-IN" dirty="0"/>
              <a:t>Resulting Table Task 5.1</a:t>
            </a:r>
          </a:p>
        </p:txBody>
      </p:sp>
      <p:graphicFrame>
        <p:nvGraphicFramePr>
          <p:cNvPr id="4" name="Object 3">
            <a:extLst>
              <a:ext uri="{FF2B5EF4-FFF2-40B4-BE49-F238E27FC236}">
                <a16:creationId xmlns:a16="http://schemas.microsoft.com/office/drawing/2014/main" id="{F0EC0FBB-A2A6-5D0C-FC7F-65EF9412D9EC}"/>
              </a:ext>
            </a:extLst>
          </p:cNvPr>
          <p:cNvGraphicFramePr>
            <a:graphicFrameLocks noChangeAspect="1"/>
          </p:cNvGraphicFramePr>
          <p:nvPr>
            <p:extLst>
              <p:ext uri="{D42A27DB-BD31-4B8C-83A1-F6EECF244321}">
                <p14:modId xmlns:p14="http://schemas.microsoft.com/office/powerpoint/2010/main" val="2794509830"/>
              </p:ext>
            </p:extLst>
          </p:nvPr>
        </p:nvGraphicFramePr>
        <p:xfrm>
          <a:off x="2876550" y="1122363"/>
          <a:ext cx="6438900" cy="4610100"/>
        </p:xfrm>
        <a:graphic>
          <a:graphicData uri="http://schemas.openxmlformats.org/presentationml/2006/ole">
            <mc:AlternateContent xmlns:mc="http://schemas.openxmlformats.org/markup-compatibility/2006">
              <mc:Choice xmlns:v="urn:schemas-microsoft-com:vml" Requires="v">
                <p:oleObj name="Worksheet" r:id="rId2" imgW="6438875" imgH="4610231" progId="Excel.Sheet.12">
                  <p:embed/>
                </p:oleObj>
              </mc:Choice>
              <mc:Fallback>
                <p:oleObj name="Worksheet" r:id="rId2" imgW="6438875" imgH="4610231" progId="Excel.Sheet.12">
                  <p:embed/>
                  <p:pic>
                    <p:nvPicPr>
                      <p:cNvPr id="4" name="Object 3">
                        <a:extLst>
                          <a:ext uri="{FF2B5EF4-FFF2-40B4-BE49-F238E27FC236}">
                            <a16:creationId xmlns:a16="http://schemas.microsoft.com/office/drawing/2014/main" id="{F0EC0FBB-A2A6-5D0C-FC7F-65EF9412D9EC}"/>
                          </a:ext>
                        </a:extLst>
                      </p:cNvPr>
                      <p:cNvPicPr/>
                      <p:nvPr/>
                    </p:nvPicPr>
                    <p:blipFill>
                      <a:blip r:embed="rId3"/>
                      <a:stretch>
                        <a:fillRect/>
                      </a:stretch>
                    </p:blipFill>
                    <p:spPr>
                      <a:xfrm>
                        <a:off x="2876550" y="1122363"/>
                        <a:ext cx="6438900" cy="4610100"/>
                      </a:xfrm>
                      <a:prstGeom prst="rect">
                        <a:avLst/>
                      </a:prstGeom>
                    </p:spPr>
                  </p:pic>
                </p:oleObj>
              </mc:Fallback>
            </mc:AlternateContent>
          </a:graphicData>
        </a:graphic>
      </p:graphicFrame>
    </p:spTree>
    <p:extLst>
      <p:ext uri="{BB962C8B-B14F-4D97-AF65-F5344CB8AC3E}">
        <p14:creationId xmlns:p14="http://schemas.microsoft.com/office/powerpoint/2010/main" val="1421559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E85B-FED1-B7A9-09C7-21D9E3BB12C8}"/>
              </a:ext>
            </a:extLst>
          </p:cNvPr>
          <p:cNvSpPr>
            <a:spLocks noGrp="1"/>
          </p:cNvSpPr>
          <p:nvPr>
            <p:ph type="title"/>
          </p:nvPr>
        </p:nvSpPr>
        <p:spPr>
          <a:xfrm>
            <a:off x="838200" y="365126"/>
            <a:ext cx="10515600" cy="146504"/>
          </a:xfrm>
        </p:spPr>
        <p:txBody>
          <a:bodyPr>
            <a:normAutofit fontScale="90000"/>
          </a:bodyPr>
          <a:lstStyle/>
          <a:p>
            <a:r>
              <a:rPr lang="en-IN" dirty="0"/>
              <a:t>Resulting Table Task 5.2</a:t>
            </a:r>
          </a:p>
        </p:txBody>
      </p:sp>
      <p:graphicFrame>
        <p:nvGraphicFramePr>
          <p:cNvPr id="3" name="Object 2">
            <a:extLst>
              <a:ext uri="{FF2B5EF4-FFF2-40B4-BE49-F238E27FC236}">
                <a16:creationId xmlns:a16="http://schemas.microsoft.com/office/drawing/2014/main" id="{765EB8F5-C8EA-3BB7-2F86-DE2DBAA0FB32}"/>
              </a:ext>
            </a:extLst>
          </p:cNvPr>
          <p:cNvGraphicFramePr>
            <a:graphicFrameLocks noChangeAspect="1"/>
          </p:cNvGraphicFramePr>
          <p:nvPr>
            <p:extLst>
              <p:ext uri="{D42A27DB-BD31-4B8C-83A1-F6EECF244321}">
                <p14:modId xmlns:p14="http://schemas.microsoft.com/office/powerpoint/2010/main" val="1973161549"/>
              </p:ext>
            </p:extLst>
          </p:nvPr>
        </p:nvGraphicFramePr>
        <p:xfrm>
          <a:off x="5483225" y="3240088"/>
          <a:ext cx="1225550" cy="374650"/>
        </p:xfrm>
        <a:graphic>
          <a:graphicData uri="http://schemas.openxmlformats.org/presentationml/2006/ole">
            <mc:AlternateContent xmlns:mc="http://schemas.openxmlformats.org/markup-compatibility/2006">
              <mc:Choice xmlns:v="urn:schemas-microsoft-com:vml" Requires="v">
                <p:oleObj name="Worksheet" r:id="rId2" imgW="1225513" imgH="374825" progId="Excel.Sheet.12">
                  <p:embed/>
                </p:oleObj>
              </mc:Choice>
              <mc:Fallback>
                <p:oleObj name="Worksheet" r:id="rId2" imgW="1225513" imgH="374825" progId="Excel.Sheet.12">
                  <p:embed/>
                  <p:pic>
                    <p:nvPicPr>
                      <p:cNvPr id="3" name="Object 2">
                        <a:extLst>
                          <a:ext uri="{FF2B5EF4-FFF2-40B4-BE49-F238E27FC236}">
                            <a16:creationId xmlns:a16="http://schemas.microsoft.com/office/drawing/2014/main" id="{765EB8F5-C8EA-3BB7-2F86-DE2DBAA0FB32}"/>
                          </a:ext>
                        </a:extLst>
                      </p:cNvPr>
                      <p:cNvPicPr/>
                      <p:nvPr/>
                    </p:nvPicPr>
                    <p:blipFill>
                      <a:blip r:embed="rId3"/>
                      <a:stretch>
                        <a:fillRect/>
                      </a:stretch>
                    </p:blipFill>
                    <p:spPr>
                      <a:xfrm>
                        <a:off x="5483225" y="3240088"/>
                        <a:ext cx="1225550" cy="374650"/>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1C32A3F0-50D6-8216-E949-BA297DC1CD77}"/>
              </a:ext>
            </a:extLst>
          </p:cNvPr>
          <p:cNvGraphicFramePr>
            <a:graphicFrameLocks noChangeAspect="1"/>
          </p:cNvGraphicFramePr>
          <p:nvPr>
            <p:extLst>
              <p:ext uri="{D42A27DB-BD31-4B8C-83A1-F6EECF244321}">
                <p14:modId xmlns:p14="http://schemas.microsoft.com/office/powerpoint/2010/main" val="321625850"/>
              </p:ext>
            </p:extLst>
          </p:nvPr>
        </p:nvGraphicFramePr>
        <p:xfrm>
          <a:off x="3933825" y="1122363"/>
          <a:ext cx="4324350" cy="4610100"/>
        </p:xfrm>
        <a:graphic>
          <a:graphicData uri="http://schemas.openxmlformats.org/presentationml/2006/ole">
            <mc:AlternateContent xmlns:mc="http://schemas.openxmlformats.org/markup-compatibility/2006">
              <mc:Choice xmlns:v="urn:schemas-microsoft-com:vml" Requires="v">
                <p:oleObj name="Worksheet" r:id="rId4" imgW="4324412" imgH="4610231" progId="Excel.Sheet.12">
                  <p:embed/>
                </p:oleObj>
              </mc:Choice>
              <mc:Fallback>
                <p:oleObj name="Worksheet" r:id="rId4" imgW="4324412" imgH="4610231" progId="Excel.Sheet.12">
                  <p:embed/>
                  <p:pic>
                    <p:nvPicPr>
                      <p:cNvPr id="4" name="Object 3">
                        <a:extLst>
                          <a:ext uri="{FF2B5EF4-FFF2-40B4-BE49-F238E27FC236}">
                            <a16:creationId xmlns:a16="http://schemas.microsoft.com/office/drawing/2014/main" id="{1C32A3F0-50D6-8216-E949-BA297DC1CD77}"/>
                          </a:ext>
                        </a:extLst>
                      </p:cNvPr>
                      <p:cNvPicPr/>
                      <p:nvPr/>
                    </p:nvPicPr>
                    <p:blipFill>
                      <a:blip r:embed="rId5"/>
                      <a:stretch>
                        <a:fillRect/>
                      </a:stretch>
                    </p:blipFill>
                    <p:spPr>
                      <a:xfrm>
                        <a:off x="3933825" y="1122363"/>
                        <a:ext cx="4324350" cy="4610100"/>
                      </a:xfrm>
                      <a:prstGeom prst="rect">
                        <a:avLst/>
                      </a:prstGeom>
                    </p:spPr>
                  </p:pic>
                </p:oleObj>
              </mc:Fallback>
            </mc:AlternateContent>
          </a:graphicData>
        </a:graphic>
      </p:graphicFrame>
    </p:spTree>
    <p:extLst>
      <p:ext uri="{BB962C8B-B14F-4D97-AF65-F5344CB8AC3E}">
        <p14:creationId xmlns:p14="http://schemas.microsoft.com/office/powerpoint/2010/main" val="24151739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E4F27-9BF6-58BD-147F-D7F9E48ED66F}"/>
              </a:ext>
            </a:extLst>
          </p:cNvPr>
          <p:cNvSpPr>
            <a:spLocks noGrp="1"/>
          </p:cNvSpPr>
          <p:nvPr>
            <p:ph type="title"/>
          </p:nvPr>
        </p:nvSpPr>
        <p:spPr>
          <a:xfrm>
            <a:off x="838200" y="365125"/>
            <a:ext cx="10515600" cy="92075"/>
          </a:xfrm>
        </p:spPr>
        <p:txBody>
          <a:bodyPr>
            <a:normAutofit fontScale="90000"/>
          </a:bodyPr>
          <a:lstStyle/>
          <a:p>
            <a:r>
              <a:rPr lang="en-IN" dirty="0"/>
              <a:t>Resulting Table Task 5.3</a:t>
            </a:r>
          </a:p>
        </p:txBody>
      </p:sp>
      <p:graphicFrame>
        <p:nvGraphicFramePr>
          <p:cNvPr id="3" name="Object 2">
            <a:extLst>
              <a:ext uri="{FF2B5EF4-FFF2-40B4-BE49-F238E27FC236}">
                <a16:creationId xmlns:a16="http://schemas.microsoft.com/office/drawing/2014/main" id="{48C53A8E-0E04-3951-8CFE-367DF56B1A85}"/>
              </a:ext>
            </a:extLst>
          </p:cNvPr>
          <p:cNvGraphicFramePr>
            <a:graphicFrameLocks noChangeAspect="1"/>
          </p:cNvGraphicFramePr>
          <p:nvPr>
            <p:extLst>
              <p:ext uri="{D42A27DB-BD31-4B8C-83A1-F6EECF244321}">
                <p14:modId xmlns:p14="http://schemas.microsoft.com/office/powerpoint/2010/main" val="1130212519"/>
              </p:ext>
            </p:extLst>
          </p:nvPr>
        </p:nvGraphicFramePr>
        <p:xfrm>
          <a:off x="4949825" y="3148013"/>
          <a:ext cx="2292350" cy="558800"/>
        </p:xfrm>
        <a:graphic>
          <a:graphicData uri="http://schemas.openxmlformats.org/presentationml/2006/ole">
            <mc:AlternateContent xmlns:mc="http://schemas.openxmlformats.org/markup-compatibility/2006">
              <mc:Choice xmlns:v="urn:schemas-microsoft-com:vml" Requires="v">
                <p:oleObj name="Worksheet" r:id="rId2" imgW="2292412" imgH="558888" progId="Excel.Sheet.12">
                  <p:embed/>
                </p:oleObj>
              </mc:Choice>
              <mc:Fallback>
                <p:oleObj name="Worksheet" r:id="rId2" imgW="2292412" imgH="558888" progId="Excel.Sheet.12">
                  <p:embed/>
                  <p:pic>
                    <p:nvPicPr>
                      <p:cNvPr id="3" name="Object 2">
                        <a:extLst>
                          <a:ext uri="{FF2B5EF4-FFF2-40B4-BE49-F238E27FC236}">
                            <a16:creationId xmlns:a16="http://schemas.microsoft.com/office/drawing/2014/main" id="{48C53A8E-0E04-3951-8CFE-367DF56B1A85}"/>
                          </a:ext>
                        </a:extLst>
                      </p:cNvPr>
                      <p:cNvPicPr/>
                      <p:nvPr/>
                    </p:nvPicPr>
                    <p:blipFill>
                      <a:blip r:embed="rId3"/>
                      <a:stretch>
                        <a:fillRect/>
                      </a:stretch>
                    </p:blipFill>
                    <p:spPr>
                      <a:xfrm>
                        <a:off x="4949825" y="3148013"/>
                        <a:ext cx="2292350" cy="558800"/>
                      </a:xfrm>
                      <a:prstGeom prst="rect">
                        <a:avLst/>
                      </a:prstGeom>
                    </p:spPr>
                  </p:pic>
                </p:oleObj>
              </mc:Fallback>
            </mc:AlternateContent>
          </a:graphicData>
        </a:graphic>
      </p:graphicFrame>
    </p:spTree>
    <p:extLst>
      <p:ext uri="{BB962C8B-B14F-4D97-AF65-F5344CB8AC3E}">
        <p14:creationId xmlns:p14="http://schemas.microsoft.com/office/powerpoint/2010/main" val="3807139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3058A-AE88-75AF-ABAA-B3F1CC52E8F5}"/>
              </a:ext>
            </a:extLst>
          </p:cNvPr>
          <p:cNvSpPr>
            <a:spLocks noGrp="1"/>
          </p:cNvSpPr>
          <p:nvPr>
            <p:ph type="ctrTitle"/>
          </p:nvPr>
        </p:nvSpPr>
        <p:spPr>
          <a:xfrm>
            <a:off x="1524000" y="239487"/>
            <a:ext cx="9144000" cy="799420"/>
          </a:xfrm>
        </p:spPr>
        <p:txBody>
          <a:bodyPr>
            <a:normAutofit fontScale="90000"/>
          </a:bodyPr>
          <a:lstStyle/>
          <a:p>
            <a:pPr algn="l"/>
            <a:r>
              <a:rPr lang="en-US" sz="4400" dirty="0"/>
              <a:t>Task 6: Shipment Tracking Analytics</a:t>
            </a:r>
            <a:endParaRPr lang="en-IN" sz="4400" dirty="0"/>
          </a:p>
        </p:txBody>
      </p:sp>
      <p:sp>
        <p:nvSpPr>
          <p:cNvPr id="3" name="Subtitle 2">
            <a:extLst>
              <a:ext uri="{FF2B5EF4-FFF2-40B4-BE49-F238E27FC236}">
                <a16:creationId xmlns:a16="http://schemas.microsoft.com/office/drawing/2014/main" id="{E23CBF2A-2FF4-D8C3-0B30-C8C54F21FE8E}"/>
              </a:ext>
            </a:extLst>
          </p:cNvPr>
          <p:cNvSpPr>
            <a:spLocks noGrp="1"/>
          </p:cNvSpPr>
          <p:nvPr>
            <p:ph type="subTitle" idx="1"/>
          </p:nvPr>
        </p:nvSpPr>
        <p:spPr>
          <a:xfrm>
            <a:off x="1524000" y="1230086"/>
            <a:ext cx="9144000" cy="4397828"/>
          </a:xfrm>
        </p:spPr>
        <p:txBody>
          <a:bodyPr>
            <a:normAutofit fontScale="77500" lnSpcReduction="20000"/>
          </a:bodyPr>
          <a:lstStyle/>
          <a:p>
            <a:pPr marL="342900" indent="-342900" algn="l">
              <a:buFont typeface="Arial" panose="020B0604020202020204" pitchFamily="34" charset="0"/>
              <a:buChar char="•"/>
            </a:pPr>
            <a:r>
              <a:rPr lang="en-IN" b="1" dirty="0"/>
              <a:t>Task 6.1 – </a:t>
            </a:r>
            <a:r>
              <a:rPr lang="en-US" b="1" dirty="0"/>
              <a:t>For each order, list the last checkpoint and time.</a:t>
            </a:r>
            <a:endParaRPr lang="en-IN" b="1" dirty="0"/>
          </a:p>
          <a:p>
            <a:pPr marL="342900" indent="-342900" algn="l">
              <a:buFont typeface="Arial" panose="020B0604020202020204" pitchFamily="34" charset="0"/>
              <a:buChar char="•"/>
            </a:pPr>
            <a:r>
              <a:rPr lang="en-IN" b="1" dirty="0"/>
              <a:t>Query</a:t>
            </a:r>
            <a:r>
              <a:rPr lang="en-IN" dirty="0"/>
              <a:t> - SELECT    </a:t>
            </a:r>
            <a:r>
              <a:rPr lang="en-IN" dirty="0" err="1"/>
              <a:t>st.order_id</a:t>
            </a:r>
            <a:r>
              <a:rPr lang="en-IN" dirty="0"/>
              <a:t>,    </a:t>
            </a:r>
            <a:r>
              <a:rPr lang="en-IN" dirty="0" err="1"/>
              <a:t>st.checkpoint</a:t>
            </a:r>
            <a:r>
              <a:rPr lang="en-IN" dirty="0"/>
              <a:t> AS </a:t>
            </a:r>
            <a:r>
              <a:rPr lang="en-IN" dirty="0" err="1"/>
              <a:t>last_checkpoint</a:t>
            </a:r>
            <a:r>
              <a:rPr lang="en-IN" dirty="0"/>
              <a:t>,    </a:t>
            </a:r>
            <a:r>
              <a:rPr lang="en-IN" dirty="0" err="1"/>
              <a:t>st.checkpoint_time</a:t>
            </a:r>
            <a:r>
              <a:rPr lang="en-IN" dirty="0"/>
              <a:t> AS </a:t>
            </a:r>
            <a:r>
              <a:rPr lang="en-IN" dirty="0" err="1"/>
              <a:t>last_checkpoint_timeFROM</a:t>
            </a:r>
            <a:r>
              <a:rPr lang="en-IN" dirty="0"/>
              <a:t> </a:t>
            </a:r>
            <a:r>
              <a:rPr lang="en-IN" dirty="0" err="1"/>
              <a:t>Shipment_Tracking</a:t>
            </a:r>
            <a:r>
              <a:rPr lang="en-IN" dirty="0"/>
              <a:t> </a:t>
            </a:r>
            <a:r>
              <a:rPr lang="en-IN" dirty="0" err="1"/>
              <a:t>stJOIN</a:t>
            </a:r>
            <a:r>
              <a:rPr lang="en-IN" dirty="0"/>
              <a:t> (    SELECT        </a:t>
            </a:r>
            <a:r>
              <a:rPr lang="en-IN" dirty="0" err="1"/>
              <a:t>order_id</a:t>
            </a:r>
            <a:r>
              <a:rPr lang="en-IN" dirty="0"/>
              <a:t>,        MAX(</a:t>
            </a:r>
            <a:r>
              <a:rPr lang="en-IN" dirty="0" err="1"/>
              <a:t>checkpoint_time</a:t>
            </a:r>
            <a:r>
              <a:rPr lang="en-IN" dirty="0"/>
              <a:t>) AS </a:t>
            </a:r>
            <a:r>
              <a:rPr lang="en-IN" dirty="0" err="1"/>
              <a:t>max_checkpoint_time</a:t>
            </a:r>
            <a:r>
              <a:rPr lang="en-IN" dirty="0"/>
              <a:t>    FROM </a:t>
            </a:r>
            <a:r>
              <a:rPr lang="en-IN" dirty="0" err="1"/>
              <a:t>Shipment_Tracking</a:t>
            </a:r>
            <a:r>
              <a:rPr lang="en-IN" dirty="0"/>
              <a:t>    GROUP BY </a:t>
            </a:r>
            <a:r>
              <a:rPr lang="en-IN" dirty="0" err="1"/>
              <a:t>order_id</a:t>
            </a:r>
            <a:r>
              <a:rPr lang="en-IN" dirty="0"/>
              <a:t>) AS latest    ON </a:t>
            </a:r>
            <a:r>
              <a:rPr lang="en-IN" dirty="0" err="1"/>
              <a:t>st.order_id</a:t>
            </a:r>
            <a:r>
              <a:rPr lang="en-IN" dirty="0"/>
              <a:t> = </a:t>
            </a:r>
            <a:r>
              <a:rPr lang="en-IN" dirty="0" err="1"/>
              <a:t>latest.order_id</a:t>
            </a:r>
            <a:r>
              <a:rPr lang="en-IN" dirty="0"/>
              <a:t>   AND </a:t>
            </a:r>
            <a:r>
              <a:rPr lang="en-IN" dirty="0" err="1"/>
              <a:t>st.checkpoint_time</a:t>
            </a:r>
            <a:r>
              <a:rPr lang="en-IN" dirty="0"/>
              <a:t> = </a:t>
            </a:r>
            <a:r>
              <a:rPr lang="en-IN" dirty="0" err="1"/>
              <a:t>latest.max_checkpoint_timeORDER</a:t>
            </a:r>
            <a:r>
              <a:rPr lang="en-IN" dirty="0"/>
              <a:t> BY </a:t>
            </a:r>
            <a:r>
              <a:rPr lang="en-IN" dirty="0" err="1"/>
              <a:t>st.order_id</a:t>
            </a:r>
            <a:r>
              <a:rPr lang="en-IN" dirty="0"/>
              <a:t>;</a:t>
            </a:r>
          </a:p>
          <a:p>
            <a:pPr marL="342900" indent="-342900" algn="l">
              <a:buFont typeface="Arial" panose="020B0604020202020204" pitchFamily="34" charset="0"/>
              <a:buChar char="•"/>
            </a:pPr>
            <a:r>
              <a:rPr lang="en-IN" b="1" dirty="0"/>
              <a:t>Task 6.2 – </a:t>
            </a:r>
            <a:r>
              <a:rPr lang="en-US" b="1" dirty="0"/>
              <a:t> Find the most common delay reasons (excluding None). </a:t>
            </a:r>
            <a:endParaRPr lang="en-IN" b="1" dirty="0"/>
          </a:p>
          <a:p>
            <a:pPr marL="342900" indent="-342900" algn="l">
              <a:buFont typeface="Arial" panose="020B0604020202020204" pitchFamily="34" charset="0"/>
              <a:buChar char="•"/>
            </a:pPr>
            <a:r>
              <a:rPr lang="en-IN" b="1" dirty="0"/>
              <a:t>Query</a:t>
            </a:r>
            <a:r>
              <a:rPr lang="en-IN" dirty="0"/>
              <a:t> - </a:t>
            </a:r>
            <a:r>
              <a:rPr lang="en-US" dirty="0"/>
              <a:t>SELECT </a:t>
            </a:r>
            <a:r>
              <a:rPr lang="en-US" dirty="0" err="1"/>
              <a:t>delay_reason</a:t>
            </a:r>
            <a:r>
              <a:rPr lang="en-US" dirty="0"/>
              <a:t>, COUNT(*) AS </a:t>
            </a:r>
            <a:r>
              <a:rPr lang="en-US" dirty="0" err="1"/>
              <a:t>cntFROM</a:t>
            </a:r>
            <a:r>
              <a:rPr lang="en-US" dirty="0"/>
              <a:t> </a:t>
            </a:r>
            <a:r>
              <a:rPr lang="en-US" dirty="0" err="1"/>
              <a:t>Shipment_TrackingWHERE</a:t>
            </a:r>
            <a:r>
              <a:rPr lang="en-US" dirty="0"/>
              <a:t> </a:t>
            </a:r>
            <a:r>
              <a:rPr lang="en-US" dirty="0" err="1"/>
              <a:t>delay_reason</a:t>
            </a:r>
            <a:r>
              <a:rPr lang="en-US" dirty="0"/>
              <a:t> IS NOT NULL  AND TRIM(</a:t>
            </a:r>
            <a:r>
              <a:rPr lang="en-US" dirty="0" err="1"/>
              <a:t>delay_reason</a:t>
            </a:r>
            <a:r>
              <a:rPr lang="en-US" dirty="0"/>
              <a:t>) &lt;&gt; ''  AND LOWER(</a:t>
            </a:r>
            <a:r>
              <a:rPr lang="en-US" dirty="0" err="1"/>
              <a:t>delay_reason</a:t>
            </a:r>
            <a:r>
              <a:rPr lang="en-US" dirty="0"/>
              <a:t>) &lt;&gt; '</a:t>
            </a:r>
            <a:r>
              <a:rPr lang="en-US" dirty="0" err="1"/>
              <a:t>none'GROUP</a:t>
            </a:r>
            <a:r>
              <a:rPr lang="en-US" dirty="0"/>
              <a:t> BY </a:t>
            </a:r>
            <a:r>
              <a:rPr lang="en-US" dirty="0" err="1"/>
              <a:t>delay_reasonORDER</a:t>
            </a:r>
            <a:r>
              <a:rPr lang="en-US" dirty="0"/>
              <a:t> BY </a:t>
            </a:r>
            <a:r>
              <a:rPr lang="en-US" dirty="0" err="1"/>
              <a:t>cnt</a:t>
            </a:r>
            <a:r>
              <a:rPr lang="en-US" dirty="0"/>
              <a:t> DESCLIMIT 5;</a:t>
            </a:r>
          </a:p>
          <a:p>
            <a:pPr marL="342900" indent="-342900" algn="l">
              <a:buFont typeface="Arial" panose="020B0604020202020204" pitchFamily="34" charset="0"/>
              <a:buChar char="•"/>
            </a:pPr>
            <a:r>
              <a:rPr lang="en-US" b="1" dirty="0"/>
              <a:t>Task 6.3 –  Identify orders with &gt;2 delayed checkpoints</a:t>
            </a:r>
          </a:p>
          <a:p>
            <a:pPr marL="342900" indent="-342900" algn="l">
              <a:buFont typeface="Arial" panose="020B0604020202020204" pitchFamily="34" charset="0"/>
              <a:buChar char="•"/>
            </a:pPr>
            <a:r>
              <a:rPr lang="en-US" b="1" dirty="0"/>
              <a:t>Query</a:t>
            </a:r>
            <a:r>
              <a:rPr lang="en-US" dirty="0"/>
              <a:t> - SELECT    </a:t>
            </a:r>
            <a:r>
              <a:rPr lang="en-US" dirty="0" err="1"/>
              <a:t>order_id</a:t>
            </a:r>
            <a:r>
              <a:rPr lang="en-US" dirty="0"/>
              <a:t>,    COUNT(*) AS </a:t>
            </a:r>
            <a:r>
              <a:rPr lang="en-US" dirty="0" err="1"/>
              <a:t>delayed_checkpoint_countFROM</a:t>
            </a:r>
            <a:r>
              <a:rPr lang="en-US" dirty="0"/>
              <a:t> </a:t>
            </a:r>
            <a:r>
              <a:rPr lang="en-US" dirty="0" err="1"/>
              <a:t>Shipment_TrackingWHERE</a:t>
            </a:r>
            <a:r>
              <a:rPr lang="en-US" dirty="0"/>
              <a:t> </a:t>
            </a:r>
            <a:r>
              <a:rPr lang="en-US" dirty="0" err="1"/>
              <a:t>delay_reason</a:t>
            </a:r>
            <a:r>
              <a:rPr lang="en-US" dirty="0"/>
              <a:t> IS NOT NULL  AND TRIM(</a:t>
            </a:r>
            <a:r>
              <a:rPr lang="en-US" dirty="0" err="1"/>
              <a:t>delay_reason</a:t>
            </a:r>
            <a:r>
              <a:rPr lang="en-US" dirty="0"/>
              <a:t>) &lt;&gt; ''  AND LOWER(</a:t>
            </a:r>
            <a:r>
              <a:rPr lang="en-US" dirty="0" err="1"/>
              <a:t>delay_reason</a:t>
            </a:r>
            <a:r>
              <a:rPr lang="en-US" dirty="0"/>
              <a:t>) &lt;&gt; '</a:t>
            </a:r>
            <a:r>
              <a:rPr lang="en-US" dirty="0" err="1"/>
              <a:t>none'GROUP</a:t>
            </a:r>
            <a:r>
              <a:rPr lang="en-US" dirty="0"/>
              <a:t> BY </a:t>
            </a:r>
            <a:r>
              <a:rPr lang="en-US" dirty="0" err="1"/>
              <a:t>order_idHAVING</a:t>
            </a:r>
            <a:r>
              <a:rPr lang="en-US" dirty="0"/>
              <a:t> COUNT(*) &gt; 2ORDER BY </a:t>
            </a:r>
            <a:r>
              <a:rPr lang="en-US" dirty="0" err="1"/>
              <a:t>delayed_checkpoint_count</a:t>
            </a:r>
            <a:r>
              <a:rPr lang="en-US" dirty="0"/>
              <a:t> DESC;</a:t>
            </a:r>
            <a:endParaRPr lang="en-IN" dirty="0"/>
          </a:p>
        </p:txBody>
      </p:sp>
    </p:spTree>
    <p:extLst>
      <p:ext uri="{BB962C8B-B14F-4D97-AF65-F5344CB8AC3E}">
        <p14:creationId xmlns:p14="http://schemas.microsoft.com/office/powerpoint/2010/main" val="3331235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CF887-696C-4AB9-8425-0B1AB6A3D878}"/>
              </a:ext>
            </a:extLst>
          </p:cNvPr>
          <p:cNvSpPr>
            <a:spLocks noGrp="1"/>
          </p:cNvSpPr>
          <p:nvPr>
            <p:ph type="title"/>
          </p:nvPr>
        </p:nvSpPr>
        <p:spPr>
          <a:xfrm>
            <a:off x="838200" y="365126"/>
            <a:ext cx="10515600" cy="59418"/>
          </a:xfrm>
        </p:spPr>
        <p:txBody>
          <a:bodyPr>
            <a:normAutofit fontScale="90000"/>
          </a:bodyPr>
          <a:lstStyle/>
          <a:p>
            <a:r>
              <a:rPr lang="en-IN" dirty="0"/>
              <a:t>Resulting Table Task 6.1</a:t>
            </a:r>
          </a:p>
        </p:txBody>
      </p:sp>
      <p:graphicFrame>
        <p:nvGraphicFramePr>
          <p:cNvPr id="3" name="Object 2">
            <a:extLst>
              <a:ext uri="{FF2B5EF4-FFF2-40B4-BE49-F238E27FC236}">
                <a16:creationId xmlns:a16="http://schemas.microsoft.com/office/drawing/2014/main" id="{6E061946-0DC8-DDA5-4AF6-5B57F1A5FBCE}"/>
              </a:ext>
            </a:extLst>
          </p:cNvPr>
          <p:cNvGraphicFramePr>
            <a:graphicFrameLocks noChangeAspect="1"/>
          </p:cNvGraphicFramePr>
          <p:nvPr>
            <p:extLst>
              <p:ext uri="{D42A27DB-BD31-4B8C-83A1-F6EECF244321}">
                <p14:modId xmlns:p14="http://schemas.microsoft.com/office/powerpoint/2010/main" val="929069911"/>
              </p:ext>
            </p:extLst>
          </p:nvPr>
        </p:nvGraphicFramePr>
        <p:xfrm>
          <a:off x="4394200" y="1122363"/>
          <a:ext cx="3403600" cy="4610100"/>
        </p:xfrm>
        <a:graphic>
          <a:graphicData uri="http://schemas.openxmlformats.org/presentationml/2006/ole">
            <mc:AlternateContent xmlns:mc="http://schemas.openxmlformats.org/markup-compatibility/2006">
              <mc:Choice xmlns:v="urn:schemas-microsoft-com:vml" Requires="v">
                <p:oleObj name="Worksheet" r:id="rId2" imgW="3403501" imgH="4610231" progId="Excel.Sheet.12">
                  <p:embed/>
                </p:oleObj>
              </mc:Choice>
              <mc:Fallback>
                <p:oleObj name="Worksheet" r:id="rId2" imgW="3403501" imgH="4610231" progId="Excel.Sheet.12">
                  <p:embed/>
                  <p:pic>
                    <p:nvPicPr>
                      <p:cNvPr id="3" name="Object 2">
                        <a:extLst>
                          <a:ext uri="{FF2B5EF4-FFF2-40B4-BE49-F238E27FC236}">
                            <a16:creationId xmlns:a16="http://schemas.microsoft.com/office/drawing/2014/main" id="{6E061946-0DC8-DDA5-4AF6-5B57F1A5FBCE}"/>
                          </a:ext>
                        </a:extLst>
                      </p:cNvPr>
                      <p:cNvPicPr/>
                      <p:nvPr/>
                    </p:nvPicPr>
                    <p:blipFill>
                      <a:blip r:embed="rId3"/>
                      <a:stretch>
                        <a:fillRect/>
                      </a:stretch>
                    </p:blipFill>
                    <p:spPr>
                      <a:xfrm>
                        <a:off x="4394200" y="1122363"/>
                        <a:ext cx="3403600" cy="4610100"/>
                      </a:xfrm>
                      <a:prstGeom prst="rect">
                        <a:avLst/>
                      </a:prstGeom>
                    </p:spPr>
                  </p:pic>
                </p:oleObj>
              </mc:Fallback>
            </mc:AlternateContent>
          </a:graphicData>
        </a:graphic>
      </p:graphicFrame>
    </p:spTree>
    <p:extLst>
      <p:ext uri="{BB962C8B-B14F-4D97-AF65-F5344CB8AC3E}">
        <p14:creationId xmlns:p14="http://schemas.microsoft.com/office/powerpoint/2010/main" val="4261073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62461-2441-4793-4712-B01336E1D015}"/>
              </a:ext>
            </a:extLst>
          </p:cNvPr>
          <p:cNvSpPr>
            <a:spLocks noGrp="1"/>
          </p:cNvSpPr>
          <p:nvPr>
            <p:ph type="title"/>
          </p:nvPr>
        </p:nvSpPr>
        <p:spPr>
          <a:xfrm>
            <a:off x="838200" y="365125"/>
            <a:ext cx="10515600" cy="168275"/>
          </a:xfrm>
        </p:spPr>
        <p:txBody>
          <a:bodyPr>
            <a:normAutofit fontScale="90000"/>
          </a:bodyPr>
          <a:lstStyle/>
          <a:p>
            <a:r>
              <a:rPr lang="en-IN" dirty="0"/>
              <a:t>Resulting Table Task 6.2</a:t>
            </a:r>
          </a:p>
        </p:txBody>
      </p:sp>
      <p:graphicFrame>
        <p:nvGraphicFramePr>
          <p:cNvPr id="3" name="Object 2">
            <a:extLst>
              <a:ext uri="{FF2B5EF4-FFF2-40B4-BE49-F238E27FC236}">
                <a16:creationId xmlns:a16="http://schemas.microsoft.com/office/drawing/2014/main" id="{71526E00-B6FD-A41D-1F52-BCAFFB76C2DF}"/>
              </a:ext>
            </a:extLst>
          </p:cNvPr>
          <p:cNvGraphicFramePr>
            <a:graphicFrameLocks noChangeAspect="1"/>
          </p:cNvGraphicFramePr>
          <p:nvPr>
            <p:extLst>
              <p:ext uri="{D42A27DB-BD31-4B8C-83A1-F6EECF244321}">
                <p14:modId xmlns:p14="http://schemas.microsoft.com/office/powerpoint/2010/main" val="806365447"/>
              </p:ext>
            </p:extLst>
          </p:nvPr>
        </p:nvGraphicFramePr>
        <p:xfrm>
          <a:off x="4648200" y="3055938"/>
          <a:ext cx="4087813" cy="1211262"/>
        </p:xfrm>
        <a:graphic>
          <a:graphicData uri="http://schemas.openxmlformats.org/presentationml/2006/ole">
            <mc:AlternateContent xmlns:mc="http://schemas.openxmlformats.org/markup-compatibility/2006">
              <mc:Choice xmlns:v="urn:schemas-microsoft-com:vml" Requires="v">
                <p:oleObj name="Worksheet" r:id="rId2" imgW="1549449" imgH="742950" progId="Excel.Sheet.12">
                  <p:embed/>
                </p:oleObj>
              </mc:Choice>
              <mc:Fallback>
                <p:oleObj name="Worksheet" r:id="rId2" imgW="1549449" imgH="742950" progId="Excel.Sheet.12">
                  <p:embed/>
                  <p:pic>
                    <p:nvPicPr>
                      <p:cNvPr id="3" name="Object 2">
                        <a:extLst>
                          <a:ext uri="{FF2B5EF4-FFF2-40B4-BE49-F238E27FC236}">
                            <a16:creationId xmlns:a16="http://schemas.microsoft.com/office/drawing/2014/main" id="{71526E00-B6FD-A41D-1F52-BCAFFB76C2DF}"/>
                          </a:ext>
                        </a:extLst>
                      </p:cNvPr>
                      <p:cNvPicPr/>
                      <p:nvPr/>
                    </p:nvPicPr>
                    <p:blipFill>
                      <a:blip r:embed="rId3"/>
                      <a:stretch>
                        <a:fillRect/>
                      </a:stretch>
                    </p:blipFill>
                    <p:spPr>
                      <a:xfrm>
                        <a:off x="4648200" y="3055938"/>
                        <a:ext cx="4087813" cy="1211262"/>
                      </a:xfrm>
                      <a:prstGeom prst="rect">
                        <a:avLst/>
                      </a:prstGeom>
                    </p:spPr>
                  </p:pic>
                </p:oleObj>
              </mc:Fallback>
            </mc:AlternateContent>
          </a:graphicData>
        </a:graphic>
      </p:graphicFrame>
    </p:spTree>
    <p:extLst>
      <p:ext uri="{BB962C8B-B14F-4D97-AF65-F5344CB8AC3E}">
        <p14:creationId xmlns:p14="http://schemas.microsoft.com/office/powerpoint/2010/main" val="3117067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CE488-78E4-9E02-44C0-49C2447CFF11}"/>
              </a:ext>
            </a:extLst>
          </p:cNvPr>
          <p:cNvSpPr>
            <a:spLocks noGrp="1"/>
          </p:cNvSpPr>
          <p:nvPr>
            <p:ph type="title"/>
          </p:nvPr>
        </p:nvSpPr>
        <p:spPr>
          <a:xfrm>
            <a:off x="838200" y="365126"/>
            <a:ext cx="10515600" cy="59418"/>
          </a:xfrm>
        </p:spPr>
        <p:txBody>
          <a:bodyPr>
            <a:normAutofit fontScale="90000"/>
          </a:bodyPr>
          <a:lstStyle/>
          <a:p>
            <a:r>
              <a:rPr lang="en-IN" dirty="0"/>
              <a:t>Resulting Table Task 6.3</a:t>
            </a:r>
          </a:p>
        </p:txBody>
      </p:sp>
      <p:graphicFrame>
        <p:nvGraphicFramePr>
          <p:cNvPr id="3" name="Object 2">
            <a:extLst>
              <a:ext uri="{FF2B5EF4-FFF2-40B4-BE49-F238E27FC236}">
                <a16:creationId xmlns:a16="http://schemas.microsoft.com/office/drawing/2014/main" id="{D366CF6F-BE5E-54BF-8934-AB4A11231797}"/>
              </a:ext>
            </a:extLst>
          </p:cNvPr>
          <p:cNvGraphicFramePr>
            <a:graphicFrameLocks noChangeAspect="1"/>
          </p:cNvGraphicFramePr>
          <p:nvPr>
            <p:extLst>
              <p:ext uri="{D42A27DB-BD31-4B8C-83A1-F6EECF244321}">
                <p14:modId xmlns:p14="http://schemas.microsoft.com/office/powerpoint/2010/main" val="1468414851"/>
              </p:ext>
            </p:extLst>
          </p:nvPr>
        </p:nvGraphicFramePr>
        <p:xfrm>
          <a:off x="4813300" y="1122363"/>
          <a:ext cx="2565400" cy="4610100"/>
        </p:xfrm>
        <a:graphic>
          <a:graphicData uri="http://schemas.openxmlformats.org/presentationml/2006/ole">
            <mc:AlternateContent xmlns:mc="http://schemas.openxmlformats.org/markup-compatibility/2006">
              <mc:Choice xmlns:v="urn:schemas-microsoft-com:vml" Requires="v">
                <p:oleObj name="Worksheet" r:id="rId2" imgW="2565449" imgH="4610231" progId="Excel.Sheet.12">
                  <p:embed/>
                </p:oleObj>
              </mc:Choice>
              <mc:Fallback>
                <p:oleObj name="Worksheet" r:id="rId2" imgW="2565449" imgH="4610231" progId="Excel.Sheet.12">
                  <p:embed/>
                  <p:pic>
                    <p:nvPicPr>
                      <p:cNvPr id="3" name="Object 2">
                        <a:extLst>
                          <a:ext uri="{FF2B5EF4-FFF2-40B4-BE49-F238E27FC236}">
                            <a16:creationId xmlns:a16="http://schemas.microsoft.com/office/drawing/2014/main" id="{D366CF6F-BE5E-54BF-8934-AB4A11231797}"/>
                          </a:ext>
                        </a:extLst>
                      </p:cNvPr>
                      <p:cNvPicPr/>
                      <p:nvPr/>
                    </p:nvPicPr>
                    <p:blipFill>
                      <a:blip r:embed="rId3"/>
                      <a:stretch>
                        <a:fillRect/>
                      </a:stretch>
                    </p:blipFill>
                    <p:spPr>
                      <a:xfrm>
                        <a:off x="4813300" y="1122363"/>
                        <a:ext cx="2565400" cy="4610100"/>
                      </a:xfrm>
                      <a:prstGeom prst="rect">
                        <a:avLst/>
                      </a:prstGeom>
                    </p:spPr>
                  </p:pic>
                </p:oleObj>
              </mc:Fallback>
            </mc:AlternateContent>
          </a:graphicData>
        </a:graphic>
      </p:graphicFrame>
    </p:spTree>
    <p:extLst>
      <p:ext uri="{BB962C8B-B14F-4D97-AF65-F5344CB8AC3E}">
        <p14:creationId xmlns:p14="http://schemas.microsoft.com/office/powerpoint/2010/main" val="11211945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77BFD-5B01-7D2F-5FD0-8B9B2CE26F9D}"/>
              </a:ext>
            </a:extLst>
          </p:cNvPr>
          <p:cNvSpPr>
            <a:spLocks noGrp="1"/>
          </p:cNvSpPr>
          <p:nvPr>
            <p:ph type="ctrTitle"/>
          </p:nvPr>
        </p:nvSpPr>
        <p:spPr>
          <a:xfrm>
            <a:off x="1524000" y="457198"/>
            <a:ext cx="9144000" cy="821192"/>
          </a:xfrm>
        </p:spPr>
        <p:txBody>
          <a:bodyPr>
            <a:normAutofit/>
          </a:bodyPr>
          <a:lstStyle/>
          <a:p>
            <a:pPr algn="l"/>
            <a:r>
              <a:rPr lang="en-US" sz="4400" dirty="0"/>
              <a:t>Task 7: Advanced KPI Reporting</a:t>
            </a:r>
            <a:endParaRPr lang="en-IN" sz="4400" dirty="0"/>
          </a:p>
        </p:txBody>
      </p:sp>
      <p:sp>
        <p:nvSpPr>
          <p:cNvPr id="3" name="Subtitle 2">
            <a:extLst>
              <a:ext uri="{FF2B5EF4-FFF2-40B4-BE49-F238E27FC236}">
                <a16:creationId xmlns:a16="http://schemas.microsoft.com/office/drawing/2014/main" id="{08FC3D39-AB40-8829-469B-6939A6BBFDEF}"/>
              </a:ext>
            </a:extLst>
          </p:cNvPr>
          <p:cNvSpPr>
            <a:spLocks noGrp="1"/>
          </p:cNvSpPr>
          <p:nvPr>
            <p:ph type="subTitle" idx="1"/>
          </p:nvPr>
        </p:nvSpPr>
        <p:spPr>
          <a:xfrm>
            <a:off x="1524000" y="1621971"/>
            <a:ext cx="9144000" cy="4408715"/>
          </a:xfrm>
        </p:spPr>
        <p:txBody>
          <a:bodyPr>
            <a:normAutofit fontScale="77500" lnSpcReduction="20000"/>
          </a:bodyPr>
          <a:lstStyle/>
          <a:p>
            <a:pPr marL="342900" indent="-342900" algn="l">
              <a:buFont typeface="Arial" panose="020B0604020202020204" pitchFamily="34" charset="0"/>
              <a:buChar char="•"/>
            </a:pPr>
            <a:r>
              <a:rPr lang="en-IN" b="1" dirty="0"/>
              <a:t>Task 7.1 - </a:t>
            </a:r>
            <a:r>
              <a:rPr lang="en-US" b="1" dirty="0"/>
              <a:t>Avg delivery delay per region (</a:t>
            </a:r>
            <a:r>
              <a:rPr lang="en-US" b="1" dirty="0" err="1"/>
              <a:t>Start_Location</a:t>
            </a:r>
            <a:r>
              <a:rPr lang="en-US" b="1" dirty="0"/>
              <a:t>).</a:t>
            </a:r>
          </a:p>
          <a:p>
            <a:pPr marL="342900" indent="-342900" algn="l">
              <a:buFont typeface="Arial" panose="020B0604020202020204" pitchFamily="34" charset="0"/>
              <a:buChar char="•"/>
            </a:pPr>
            <a:r>
              <a:rPr lang="en-US" b="1" dirty="0"/>
              <a:t>Query</a:t>
            </a:r>
            <a:r>
              <a:rPr lang="en-US" dirty="0"/>
              <a:t> - SELECT  </a:t>
            </a:r>
            <a:r>
              <a:rPr lang="en-US" dirty="0" err="1"/>
              <a:t>r.start_location</a:t>
            </a:r>
            <a:r>
              <a:rPr lang="en-US" dirty="0"/>
              <a:t> AS region,  COUNT(</a:t>
            </a:r>
            <a:r>
              <a:rPr lang="en-US" dirty="0" err="1"/>
              <a:t>o.order_id</a:t>
            </a:r>
            <a:r>
              <a:rPr lang="en-US" dirty="0"/>
              <a:t>) AS </a:t>
            </a:r>
            <a:r>
              <a:rPr lang="en-US" dirty="0" err="1"/>
              <a:t>orders_count</a:t>
            </a:r>
            <a:r>
              <a:rPr lang="en-US" dirty="0"/>
              <a:t>,  ROUND(AVG(</a:t>
            </a:r>
            <a:r>
              <a:rPr lang="en-US" dirty="0" err="1"/>
              <a:t>o.delivery_delay_days</a:t>
            </a:r>
            <a:r>
              <a:rPr lang="en-US" dirty="0"/>
              <a:t>), 2) AS </a:t>
            </a:r>
            <a:r>
              <a:rPr lang="en-US" dirty="0" err="1"/>
              <a:t>avg_delay_daysFROM</a:t>
            </a:r>
            <a:r>
              <a:rPr lang="en-US" dirty="0"/>
              <a:t> </a:t>
            </a:r>
            <a:r>
              <a:rPr lang="en-US" dirty="0" err="1"/>
              <a:t>orders_clean</a:t>
            </a:r>
            <a:r>
              <a:rPr lang="en-US" dirty="0"/>
              <a:t> </a:t>
            </a:r>
            <a:r>
              <a:rPr lang="en-US" dirty="0" err="1"/>
              <a:t>oJOIN</a:t>
            </a:r>
            <a:r>
              <a:rPr lang="en-US" dirty="0"/>
              <a:t> Routes r ON </a:t>
            </a:r>
            <a:r>
              <a:rPr lang="en-US" dirty="0" err="1"/>
              <a:t>o.route_id</a:t>
            </a:r>
            <a:r>
              <a:rPr lang="en-US" dirty="0"/>
              <a:t> = </a:t>
            </a:r>
            <a:r>
              <a:rPr lang="en-US" dirty="0" err="1"/>
              <a:t>r.route_idWHERE</a:t>
            </a:r>
            <a:r>
              <a:rPr lang="en-US" dirty="0"/>
              <a:t> </a:t>
            </a:r>
            <a:r>
              <a:rPr lang="en-US" dirty="0" err="1"/>
              <a:t>o.delivery_delay_days</a:t>
            </a:r>
            <a:r>
              <a:rPr lang="en-US" dirty="0"/>
              <a:t> IS NOT NULLGROUP BY </a:t>
            </a:r>
            <a:r>
              <a:rPr lang="en-US" dirty="0" err="1"/>
              <a:t>r.start_locationORDER</a:t>
            </a:r>
            <a:r>
              <a:rPr lang="en-US" dirty="0"/>
              <a:t> BY </a:t>
            </a:r>
            <a:r>
              <a:rPr lang="en-US" dirty="0" err="1"/>
              <a:t>avg_delay_days</a:t>
            </a:r>
            <a:r>
              <a:rPr lang="en-US" dirty="0"/>
              <a:t> DESC, </a:t>
            </a:r>
            <a:r>
              <a:rPr lang="en-US" dirty="0" err="1"/>
              <a:t>orders_count</a:t>
            </a:r>
            <a:r>
              <a:rPr lang="en-US" dirty="0"/>
              <a:t> DESC;</a:t>
            </a:r>
          </a:p>
          <a:p>
            <a:pPr marL="342900" indent="-342900" algn="l">
              <a:buFont typeface="Arial" panose="020B0604020202020204" pitchFamily="34" charset="0"/>
              <a:buChar char="•"/>
            </a:pPr>
            <a:r>
              <a:rPr lang="en-US" b="1" dirty="0"/>
              <a:t>Task 7.2 – On-Time Delivery % = (Total On-Time Deliveries / Total Deliveries) * 100. </a:t>
            </a:r>
          </a:p>
          <a:p>
            <a:pPr marL="342900" indent="-342900" algn="l">
              <a:buFont typeface="Arial" panose="020B0604020202020204" pitchFamily="34" charset="0"/>
              <a:buChar char="•"/>
            </a:pPr>
            <a:r>
              <a:rPr lang="en-US" b="1" dirty="0"/>
              <a:t>Query</a:t>
            </a:r>
            <a:r>
              <a:rPr lang="en-US" dirty="0"/>
              <a:t> - SELECT  COUNT(*) AS </a:t>
            </a:r>
            <a:r>
              <a:rPr lang="en-US" dirty="0" err="1"/>
              <a:t>total_deliveries</a:t>
            </a:r>
            <a:r>
              <a:rPr lang="en-US" dirty="0"/>
              <a:t>,  SUM(CASE WHEN </a:t>
            </a:r>
            <a:r>
              <a:rPr lang="en-US" dirty="0" err="1"/>
              <a:t>delivery_delay_days</a:t>
            </a:r>
            <a:r>
              <a:rPr lang="en-US" dirty="0"/>
              <a:t> IS NOT NULL AND </a:t>
            </a:r>
            <a:r>
              <a:rPr lang="en-US" dirty="0" err="1"/>
              <a:t>delivery_delay_days</a:t>
            </a:r>
            <a:r>
              <a:rPr lang="en-US" dirty="0"/>
              <a:t> &lt;= 0 THEN 1 ELSE 0 END) AS </a:t>
            </a:r>
            <a:r>
              <a:rPr lang="en-US" dirty="0" err="1"/>
              <a:t>ontime_count</a:t>
            </a:r>
            <a:r>
              <a:rPr lang="en-US" dirty="0"/>
              <a:t>,  ROUND(100.0 * SUM(CASE WHEN </a:t>
            </a:r>
            <a:r>
              <a:rPr lang="en-US" dirty="0" err="1"/>
              <a:t>delivery_delay_days</a:t>
            </a:r>
            <a:r>
              <a:rPr lang="en-US" dirty="0"/>
              <a:t> IS NOT NULL AND </a:t>
            </a:r>
            <a:r>
              <a:rPr lang="en-US" dirty="0" err="1"/>
              <a:t>delivery_delay_days</a:t>
            </a:r>
            <a:r>
              <a:rPr lang="en-US" dirty="0"/>
              <a:t> &lt;= 0 THEN 1 ELSE 0 END) / NULLIF(COUNT(*),0), 2) AS </a:t>
            </a:r>
            <a:r>
              <a:rPr lang="en-US" dirty="0" err="1"/>
              <a:t>ontime_pctFROM</a:t>
            </a:r>
            <a:r>
              <a:rPr lang="en-US" dirty="0"/>
              <a:t> </a:t>
            </a:r>
            <a:r>
              <a:rPr lang="en-US" dirty="0" err="1"/>
              <a:t>orders_clean</a:t>
            </a:r>
            <a:r>
              <a:rPr lang="en-US" dirty="0"/>
              <a:t>;</a:t>
            </a:r>
          </a:p>
          <a:p>
            <a:pPr marL="342900" indent="-342900" algn="l">
              <a:buFont typeface="Arial" panose="020B0604020202020204" pitchFamily="34" charset="0"/>
              <a:buChar char="•"/>
            </a:pPr>
            <a:r>
              <a:rPr lang="en-US" b="1" dirty="0"/>
              <a:t>Task 7.3 – Average Traffic Delay per Route. </a:t>
            </a:r>
          </a:p>
          <a:p>
            <a:pPr marL="342900" indent="-342900" algn="l">
              <a:buFont typeface="Arial" panose="020B0604020202020204" pitchFamily="34" charset="0"/>
              <a:buChar char="•"/>
            </a:pPr>
            <a:r>
              <a:rPr lang="en-IN" b="1" dirty="0"/>
              <a:t>Query</a:t>
            </a:r>
            <a:r>
              <a:rPr lang="en-IN" dirty="0"/>
              <a:t> - SELECT  </a:t>
            </a:r>
            <a:r>
              <a:rPr lang="en-IN" dirty="0" err="1"/>
              <a:t>r.route_id</a:t>
            </a:r>
            <a:r>
              <a:rPr lang="en-IN" dirty="0"/>
              <a:t>,  </a:t>
            </a:r>
            <a:r>
              <a:rPr lang="en-IN" dirty="0" err="1"/>
              <a:t>r.start_location</a:t>
            </a:r>
            <a:r>
              <a:rPr lang="en-IN" dirty="0"/>
              <a:t>,  </a:t>
            </a:r>
            <a:r>
              <a:rPr lang="en-IN" dirty="0" err="1"/>
              <a:t>r.end_location</a:t>
            </a:r>
            <a:r>
              <a:rPr lang="en-IN" dirty="0"/>
              <a:t>,  COUNT(*) AS </a:t>
            </a:r>
            <a:r>
              <a:rPr lang="en-IN" dirty="0" err="1"/>
              <a:t>route_rows</a:t>
            </a:r>
            <a:r>
              <a:rPr lang="en-IN" dirty="0"/>
              <a:t>,  ROUND(AVG(</a:t>
            </a:r>
            <a:r>
              <a:rPr lang="en-IN" dirty="0" err="1"/>
              <a:t>r.traffic_delay_min</a:t>
            </a:r>
            <a:r>
              <a:rPr lang="en-IN" dirty="0"/>
              <a:t>), 2) AS </a:t>
            </a:r>
            <a:r>
              <a:rPr lang="en-IN" dirty="0" err="1"/>
              <a:t>avg_traffic_delay_minFROM</a:t>
            </a:r>
            <a:r>
              <a:rPr lang="en-IN" dirty="0"/>
              <a:t> Routes </a:t>
            </a:r>
            <a:r>
              <a:rPr lang="en-IN" dirty="0" err="1"/>
              <a:t>rWHERE</a:t>
            </a:r>
            <a:r>
              <a:rPr lang="en-IN" dirty="0"/>
              <a:t> </a:t>
            </a:r>
            <a:r>
              <a:rPr lang="en-IN" dirty="0" err="1"/>
              <a:t>r.traffic_delay_min</a:t>
            </a:r>
            <a:r>
              <a:rPr lang="en-IN" dirty="0"/>
              <a:t> IS NOT NULLGROUP BY </a:t>
            </a:r>
            <a:r>
              <a:rPr lang="en-IN" dirty="0" err="1"/>
              <a:t>r.route_id</a:t>
            </a:r>
            <a:r>
              <a:rPr lang="en-IN" dirty="0"/>
              <a:t>, </a:t>
            </a:r>
            <a:r>
              <a:rPr lang="en-IN" dirty="0" err="1"/>
              <a:t>r.start_location</a:t>
            </a:r>
            <a:r>
              <a:rPr lang="en-IN" dirty="0"/>
              <a:t>, </a:t>
            </a:r>
            <a:r>
              <a:rPr lang="en-IN" dirty="0" err="1"/>
              <a:t>r.end_locationORDER</a:t>
            </a:r>
            <a:r>
              <a:rPr lang="en-IN" dirty="0"/>
              <a:t> BY </a:t>
            </a:r>
            <a:r>
              <a:rPr lang="en-IN" dirty="0" err="1"/>
              <a:t>avg_traffic_delay_min</a:t>
            </a:r>
            <a:r>
              <a:rPr lang="en-IN" dirty="0"/>
              <a:t> DESC;</a:t>
            </a:r>
          </a:p>
        </p:txBody>
      </p:sp>
    </p:spTree>
    <p:extLst>
      <p:ext uri="{BB962C8B-B14F-4D97-AF65-F5344CB8AC3E}">
        <p14:creationId xmlns:p14="http://schemas.microsoft.com/office/powerpoint/2010/main" val="29079714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0C62-4F03-8B2A-D2E6-1F47980A9865}"/>
              </a:ext>
            </a:extLst>
          </p:cNvPr>
          <p:cNvSpPr>
            <a:spLocks noGrp="1"/>
          </p:cNvSpPr>
          <p:nvPr>
            <p:ph type="title"/>
          </p:nvPr>
        </p:nvSpPr>
        <p:spPr>
          <a:xfrm>
            <a:off x="838200" y="365125"/>
            <a:ext cx="10515600" cy="102961"/>
          </a:xfrm>
        </p:spPr>
        <p:txBody>
          <a:bodyPr>
            <a:normAutofit fontScale="90000"/>
          </a:bodyPr>
          <a:lstStyle/>
          <a:p>
            <a:r>
              <a:rPr lang="en-IN" dirty="0"/>
              <a:t>Resulting Table Task 7.1</a:t>
            </a:r>
          </a:p>
        </p:txBody>
      </p:sp>
      <p:graphicFrame>
        <p:nvGraphicFramePr>
          <p:cNvPr id="3" name="Object 2">
            <a:extLst>
              <a:ext uri="{FF2B5EF4-FFF2-40B4-BE49-F238E27FC236}">
                <a16:creationId xmlns:a16="http://schemas.microsoft.com/office/drawing/2014/main" id="{C65C9733-9171-0A81-B830-C28DA3EF1481}"/>
              </a:ext>
            </a:extLst>
          </p:cNvPr>
          <p:cNvGraphicFramePr>
            <a:graphicFrameLocks noChangeAspect="1"/>
          </p:cNvGraphicFramePr>
          <p:nvPr>
            <p:extLst>
              <p:ext uri="{D42A27DB-BD31-4B8C-83A1-F6EECF244321}">
                <p14:modId xmlns:p14="http://schemas.microsoft.com/office/powerpoint/2010/main" val="3880772340"/>
              </p:ext>
            </p:extLst>
          </p:nvPr>
        </p:nvGraphicFramePr>
        <p:xfrm>
          <a:off x="4835525" y="2779713"/>
          <a:ext cx="2520950" cy="1295400"/>
        </p:xfrm>
        <a:graphic>
          <a:graphicData uri="http://schemas.openxmlformats.org/presentationml/2006/ole">
            <mc:AlternateContent xmlns:mc="http://schemas.openxmlformats.org/markup-compatibility/2006">
              <mc:Choice xmlns:v="urn:schemas-microsoft-com:vml" Requires="v">
                <p:oleObj name="Worksheet" r:id="rId2" imgW="2520864" imgH="1295531" progId="Excel.Sheet.12">
                  <p:embed/>
                </p:oleObj>
              </mc:Choice>
              <mc:Fallback>
                <p:oleObj name="Worksheet" r:id="rId2" imgW="2520864" imgH="1295531" progId="Excel.Sheet.12">
                  <p:embed/>
                  <p:pic>
                    <p:nvPicPr>
                      <p:cNvPr id="3" name="Object 2">
                        <a:extLst>
                          <a:ext uri="{FF2B5EF4-FFF2-40B4-BE49-F238E27FC236}">
                            <a16:creationId xmlns:a16="http://schemas.microsoft.com/office/drawing/2014/main" id="{C65C9733-9171-0A81-B830-C28DA3EF1481}"/>
                          </a:ext>
                        </a:extLst>
                      </p:cNvPr>
                      <p:cNvPicPr/>
                      <p:nvPr/>
                    </p:nvPicPr>
                    <p:blipFill>
                      <a:blip r:embed="rId3"/>
                      <a:stretch>
                        <a:fillRect/>
                      </a:stretch>
                    </p:blipFill>
                    <p:spPr>
                      <a:xfrm>
                        <a:off x="4835525" y="2779713"/>
                        <a:ext cx="2520950" cy="1295400"/>
                      </a:xfrm>
                      <a:prstGeom prst="rect">
                        <a:avLst/>
                      </a:prstGeom>
                    </p:spPr>
                  </p:pic>
                </p:oleObj>
              </mc:Fallback>
            </mc:AlternateContent>
          </a:graphicData>
        </a:graphic>
      </p:graphicFrame>
    </p:spTree>
    <p:extLst>
      <p:ext uri="{BB962C8B-B14F-4D97-AF65-F5344CB8AC3E}">
        <p14:creationId xmlns:p14="http://schemas.microsoft.com/office/powerpoint/2010/main" val="2660580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AB635-8268-54BB-9DD3-A5D5903BB4FD}"/>
              </a:ext>
            </a:extLst>
          </p:cNvPr>
          <p:cNvSpPr>
            <a:spLocks noGrp="1"/>
          </p:cNvSpPr>
          <p:nvPr>
            <p:ph type="title"/>
          </p:nvPr>
        </p:nvSpPr>
        <p:spPr>
          <a:xfrm>
            <a:off x="838200" y="365126"/>
            <a:ext cx="10515600" cy="190046"/>
          </a:xfrm>
        </p:spPr>
        <p:txBody>
          <a:bodyPr>
            <a:normAutofit fontScale="90000"/>
          </a:bodyPr>
          <a:lstStyle/>
          <a:p>
            <a:r>
              <a:rPr lang="en-IN" dirty="0"/>
              <a:t>Resulting Table Task 7.2</a:t>
            </a:r>
          </a:p>
        </p:txBody>
      </p:sp>
      <p:graphicFrame>
        <p:nvGraphicFramePr>
          <p:cNvPr id="3" name="Object 2">
            <a:extLst>
              <a:ext uri="{FF2B5EF4-FFF2-40B4-BE49-F238E27FC236}">
                <a16:creationId xmlns:a16="http://schemas.microsoft.com/office/drawing/2014/main" id="{33D0DAD2-1F69-CE65-7DDE-00A904111A30}"/>
              </a:ext>
            </a:extLst>
          </p:cNvPr>
          <p:cNvGraphicFramePr>
            <a:graphicFrameLocks noChangeAspect="1"/>
          </p:cNvGraphicFramePr>
          <p:nvPr>
            <p:extLst>
              <p:ext uri="{D42A27DB-BD31-4B8C-83A1-F6EECF244321}">
                <p14:modId xmlns:p14="http://schemas.microsoft.com/office/powerpoint/2010/main" val="545005818"/>
              </p:ext>
            </p:extLst>
          </p:nvPr>
        </p:nvGraphicFramePr>
        <p:xfrm>
          <a:off x="4816475" y="3240088"/>
          <a:ext cx="2559050" cy="374650"/>
        </p:xfrm>
        <a:graphic>
          <a:graphicData uri="http://schemas.openxmlformats.org/presentationml/2006/ole">
            <mc:AlternateContent xmlns:mc="http://schemas.openxmlformats.org/markup-compatibility/2006">
              <mc:Choice xmlns:v="urn:schemas-microsoft-com:vml" Requires="v">
                <p:oleObj name="Worksheet" r:id="rId2" imgW="2559136" imgH="374825" progId="Excel.Sheet.12">
                  <p:embed/>
                </p:oleObj>
              </mc:Choice>
              <mc:Fallback>
                <p:oleObj name="Worksheet" r:id="rId2" imgW="2559136" imgH="374825" progId="Excel.Sheet.12">
                  <p:embed/>
                  <p:pic>
                    <p:nvPicPr>
                      <p:cNvPr id="3" name="Object 2">
                        <a:extLst>
                          <a:ext uri="{FF2B5EF4-FFF2-40B4-BE49-F238E27FC236}">
                            <a16:creationId xmlns:a16="http://schemas.microsoft.com/office/drawing/2014/main" id="{33D0DAD2-1F69-CE65-7DDE-00A904111A30}"/>
                          </a:ext>
                        </a:extLst>
                      </p:cNvPr>
                      <p:cNvPicPr/>
                      <p:nvPr/>
                    </p:nvPicPr>
                    <p:blipFill>
                      <a:blip r:embed="rId3"/>
                      <a:stretch>
                        <a:fillRect/>
                      </a:stretch>
                    </p:blipFill>
                    <p:spPr>
                      <a:xfrm>
                        <a:off x="4816475" y="3240088"/>
                        <a:ext cx="2559050" cy="374650"/>
                      </a:xfrm>
                      <a:prstGeom prst="rect">
                        <a:avLst/>
                      </a:prstGeom>
                    </p:spPr>
                  </p:pic>
                </p:oleObj>
              </mc:Fallback>
            </mc:AlternateContent>
          </a:graphicData>
        </a:graphic>
      </p:graphicFrame>
    </p:spTree>
    <p:extLst>
      <p:ext uri="{BB962C8B-B14F-4D97-AF65-F5344CB8AC3E}">
        <p14:creationId xmlns:p14="http://schemas.microsoft.com/office/powerpoint/2010/main" val="30320262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1D14-4CC6-1659-E09C-3F2694020986}"/>
              </a:ext>
            </a:extLst>
          </p:cNvPr>
          <p:cNvSpPr>
            <a:spLocks noGrp="1"/>
          </p:cNvSpPr>
          <p:nvPr>
            <p:ph type="title"/>
          </p:nvPr>
        </p:nvSpPr>
        <p:spPr>
          <a:xfrm>
            <a:off x="838200" y="365125"/>
            <a:ext cx="10515600" cy="45719"/>
          </a:xfrm>
        </p:spPr>
        <p:txBody>
          <a:bodyPr>
            <a:normAutofit fontScale="90000"/>
          </a:bodyPr>
          <a:lstStyle/>
          <a:p>
            <a:r>
              <a:rPr lang="en-IN" dirty="0"/>
              <a:t>Resulting Table Task 7.3</a:t>
            </a:r>
          </a:p>
        </p:txBody>
      </p:sp>
      <p:graphicFrame>
        <p:nvGraphicFramePr>
          <p:cNvPr id="3" name="Object 2">
            <a:extLst>
              <a:ext uri="{FF2B5EF4-FFF2-40B4-BE49-F238E27FC236}">
                <a16:creationId xmlns:a16="http://schemas.microsoft.com/office/drawing/2014/main" id="{317539A8-2291-F0B5-EDBC-7402CC43BEB9}"/>
              </a:ext>
            </a:extLst>
          </p:cNvPr>
          <p:cNvGraphicFramePr>
            <a:graphicFrameLocks noChangeAspect="1"/>
          </p:cNvGraphicFramePr>
          <p:nvPr>
            <p:extLst>
              <p:ext uri="{D42A27DB-BD31-4B8C-83A1-F6EECF244321}">
                <p14:modId xmlns:p14="http://schemas.microsoft.com/office/powerpoint/2010/main" val="3097096970"/>
              </p:ext>
            </p:extLst>
          </p:nvPr>
        </p:nvGraphicFramePr>
        <p:xfrm>
          <a:off x="3930650" y="1490663"/>
          <a:ext cx="4330700" cy="3873500"/>
        </p:xfrm>
        <a:graphic>
          <a:graphicData uri="http://schemas.openxmlformats.org/presentationml/2006/ole">
            <mc:AlternateContent xmlns:mc="http://schemas.openxmlformats.org/markup-compatibility/2006">
              <mc:Choice xmlns:v="urn:schemas-microsoft-com:vml" Requires="v">
                <p:oleObj name="Worksheet" r:id="rId2" imgW="4330725" imgH="3873588" progId="Excel.Sheet.12">
                  <p:embed/>
                </p:oleObj>
              </mc:Choice>
              <mc:Fallback>
                <p:oleObj name="Worksheet" r:id="rId2" imgW="4330725" imgH="3873588" progId="Excel.Sheet.12">
                  <p:embed/>
                  <p:pic>
                    <p:nvPicPr>
                      <p:cNvPr id="3" name="Object 2">
                        <a:extLst>
                          <a:ext uri="{FF2B5EF4-FFF2-40B4-BE49-F238E27FC236}">
                            <a16:creationId xmlns:a16="http://schemas.microsoft.com/office/drawing/2014/main" id="{317539A8-2291-F0B5-EDBC-7402CC43BEB9}"/>
                          </a:ext>
                        </a:extLst>
                      </p:cNvPr>
                      <p:cNvPicPr/>
                      <p:nvPr/>
                    </p:nvPicPr>
                    <p:blipFill>
                      <a:blip r:embed="rId3"/>
                      <a:stretch>
                        <a:fillRect/>
                      </a:stretch>
                    </p:blipFill>
                    <p:spPr>
                      <a:xfrm>
                        <a:off x="3930650" y="1490663"/>
                        <a:ext cx="4330700" cy="3873500"/>
                      </a:xfrm>
                      <a:prstGeom prst="rect">
                        <a:avLst/>
                      </a:prstGeom>
                    </p:spPr>
                  </p:pic>
                </p:oleObj>
              </mc:Fallback>
            </mc:AlternateContent>
          </a:graphicData>
        </a:graphic>
      </p:graphicFrame>
    </p:spTree>
    <p:extLst>
      <p:ext uri="{BB962C8B-B14F-4D97-AF65-F5344CB8AC3E}">
        <p14:creationId xmlns:p14="http://schemas.microsoft.com/office/powerpoint/2010/main" val="3998362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C9AA8-85BF-9F16-A524-BA3C38A54F0A}"/>
              </a:ext>
            </a:extLst>
          </p:cNvPr>
          <p:cNvSpPr>
            <a:spLocks noGrp="1"/>
          </p:cNvSpPr>
          <p:nvPr>
            <p:ph type="ctrTitle"/>
          </p:nvPr>
        </p:nvSpPr>
        <p:spPr/>
        <p:txBody>
          <a:bodyPr/>
          <a:lstStyle/>
          <a:p>
            <a:r>
              <a:rPr lang="en-IN" dirty="0"/>
              <a:t>VIDEO link</a:t>
            </a:r>
          </a:p>
        </p:txBody>
      </p:sp>
      <p:sp>
        <p:nvSpPr>
          <p:cNvPr id="3" name="Subtitle 2">
            <a:extLst>
              <a:ext uri="{FF2B5EF4-FFF2-40B4-BE49-F238E27FC236}">
                <a16:creationId xmlns:a16="http://schemas.microsoft.com/office/drawing/2014/main" id="{EE53CE41-793D-F20B-4B07-51912B0F95BC}"/>
              </a:ext>
            </a:extLst>
          </p:cNvPr>
          <p:cNvSpPr>
            <a:spLocks noGrp="1"/>
          </p:cNvSpPr>
          <p:nvPr>
            <p:ph type="subTitle" idx="1"/>
          </p:nvPr>
        </p:nvSpPr>
        <p:spPr/>
        <p:txBody>
          <a:bodyPr/>
          <a:lstStyle/>
          <a:p>
            <a:r>
              <a:rPr lang="en-IN" dirty="0">
                <a:solidFill>
                  <a:srgbClr val="FFFF00"/>
                </a:solidFill>
              </a:rPr>
              <a:t>https://1drv.ms/v/c/d7dd30bfddba3699/EXZGSK-YlL9OmzfKQmhKFo4BouAU1vLxCQe7z6RrKP05hA?e=rrMh9vhttps://1drv.ms/v/c/d7dd30bfddba3699/EXZGSK-YlL9OmzfKQmhKFo4BouAU1vLxCQe7z6RrKP05hA?e=rrMh9v</a:t>
            </a:r>
          </a:p>
        </p:txBody>
      </p:sp>
    </p:spTree>
    <p:extLst>
      <p:ext uri="{BB962C8B-B14F-4D97-AF65-F5344CB8AC3E}">
        <p14:creationId xmlns:p14="http://schemas.microsoft.com/office/powerpoint/2010/main" val="11724366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218</TotalTime>
  <Words>3866</Words>
  <Application>Microsoft Office PowerPoint</Application>
  <PresentationFormat>Widescreen</PresentationFormat>
  <Paragraphs>84</Paragraphs>
  <Slides>33</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38" baseType="lpstr">
      <vt:lpstr>Aptos</vt:lpstr>
      <vt:lpstr>Arial</vt:lpstr>
      <vt:lpstr>Tw Cen MT</vt:lpstr>
      <vt:lpstr>Circuit</vt:lpstr>
      <vt:lpstr>Worksheet</vt:lpstr>
      <vt:lpstr>Logistics Optimization for Delivery Routes – Flipkart </vt:lpstr>
      <vt:lpstr>Task 1: Data Cleaning &amp; Preparation</vt:lpstr>
      <vt:lpstr>Resulting Table Task 1.1</vt:lpstr>
      <vt:lpstr>Resulting Table Task 1.2</vt:lpstr>
      <vt:lpstr>Resulting Table Task 1.3</vt:lpstr>
      <vt:lpstr>Resulting Table Task 1.4</vt:lpstr>
      <vt:lpstr>Task 2: Delivery Delay Analysis</vt:lpstr>
      <vt:lpstr>Resulting Table Task 2.1</vt:lpstr>
      <vt:lpstr>Resulting Table Task 2.2</vt:lpstr>
      <vt:lpstr>Resulting Table Task 2.3</vt:lpstr>
      <vt:lpstr>Task 3: Route Optimization Insights </vt:lpstr>
      <vt:lpstr>Resulting Table Task 3.1</vt:lpstr>
      <vt:lpstr>Resulting Table Task 3.2</vt:lpstr>
      <vt:lpstr>Resulting Table Task 3.3</vt:lpstr>
      <vt:lpstr>Resulting Table Task 3.4</vt:lpstr>
      <vt:lpstr>Task 4: Warehouse Performance</vt:lpstr>
      <vt:lpstr>Resulting Table Task 4.1</vt:lpstr>
      <vt:lpstr>Resulting Table Task 4.2</vt:lpstr>
      <vt:lpstr>Resulting Table Task 4.3</vt:lpstr>
      <vt:lpstr>Resulting Table Task 4.4</vt:lpstr>
      <vt:lpstr>Task 5: Delivery Agent Performance</vt:lpstr>
      <vt:lpstr>Resulting Table Task 5.1</vt:lpstr>
      <vt:lpstr>Resulting Table Task 5.2</vt:lpstr>
      <vt:lpstr>Resulting Table Task 5.3</vt:lpstr>
      <vt:lpstr>Task 6: Shipment Tracking Analytics</vt:lpstr>
      <vt:lpstr>Resulting Table Task 6.1</vt:lpstr>
      <vt:lpstr>Resulting Table Task 6.2</vt:lpstr>
      <vt:lpstr>Resulting Table Task 6.3</vt:lpstr>
      <vt:lpstr>Task 7: Advanced KPI Reporting</vt:lpstr>
      <vt:lpstr>Resulting Table Task 7.1</vt:lpstr>
      <vt:lpstr>Resulting Table Task 7.2</vt:lpstr>
      <vt:lpstr>Resulting Table Task 7.3</vt:lpstr>
      <vt:lpstr>VIDEO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 Chandra</dc:creator>
  <cp:lastModifiedBy>Vikas Chandra</cp:lastModifiedBy>
  <cp:revision>1</cp:revision>
  <dcterms:created xsi:type="dcterms:W3CDTF">2025-11-26T03:24:30Z</dcterms:created>
  <dcterms:modified xsi:type="dcterms:W3CDTF">2025-11-26T07:38:51Z</dcterms:modified>
</cp:coreProperties>
</file>